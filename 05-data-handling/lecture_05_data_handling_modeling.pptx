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6" r:id="rId47"/>
    <p:sldId id="270" r:id="rId16"/>
    <p:sldId id="271" r:id="rId17"/>
    <p:sldId id="295" r:id="rId46"/>
    <p:sldId id="272" r:id="rId18"/>
    <p:sldId id="294" r:id="rId45"/>
    <p:sldId id="273" r:id="rId19"/>
    <p:sldId id="274" r:id="rId20"/>
    <p:sldId id="293" r:id="rId44"/>
    <p:sldId id="275" r:id="rId21"/>
    <p:sldId id="276" r:id="rId22"/>
    <p:sldId id="292" r:id="rId43"/>
    <p:sldId id="277" r:id="rId23"/>
    <p:sldId id="278" r:id="rId24"/>
    <p:sldId id="291" r:id="rId42"/>
    <p:sldId id="279" r:id="rId25"/>
    <p:sldId id="280" r:id="rId26"/>
    <p:sldId id="281" r:id="rId27"/>
    <p:sldId id="282" r:id="rId28"/>
    <p:sldId id="290" r:id="rId41"/>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9.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7.xml"/><Relationship Id="rId24" Type="http://schemas.openxmlformats.org/officeDocument/2006/relationships/slide" Target="slides/slide28.xml"/><Relationship Id="rId25" Type="http://schemas.openxmlformats.org/officeDocument/2006/relationships/slide" Target="slides/slide30.xml"/><Relationship Id="rId26" Type="http://schemas.openxmlformats.org/officeDocument/2006/relationships/slide" Target="slides/slide31.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38.xml"/><Relationship Id="rId33" Type="http://schemas.openxmlformats.org/officeDocument/2006/relationships/slide" Target="slides/slide39.xml"/><Relationship Id="rId34" Type="http://schemas.openxmlformats.org/officeDocument/2006/relationships/slide" Target="slides/slide41.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40.xml"/><Relationship Id="rId41" Type="http://schemas.openxmlformats.org/officeDocument/2006/relationships/slide" Target="slides/slide34.xml"/><Relationship Id="rId42" Type="http://schemas.openxmlformats.org/officeDocument/2006/relationships/slide" Target="slides/slide29.xml"/><Relationship Id="rId43" Type="http://schemas.openxmlformats.org/officeDocument/2006/relationships/slide" Target="slides/slide26.xml"/><Relationship Id="rId44" Type="http://schemas.openxmlformats.org/officeDocument/2006/relationships/slide" Target="slides/slide23.xml"/><Relationship Id="rId45" Type="http://schemas.openxmlformats.org/officeDocument/2006/relationships/slide" Target="slides/slide20.xml"/><Relationship Id="rId46" Type="http://schemas.openxmlformats.org/officeDocument/2006/relationships/slide" Target="slides/slide18.xml"/><Relationship Id="rId4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dieser Einstiegsfolie: den roten Faden setzen.</a:t>
            </a:r>
            <a:endParaRPr lang="de-DE"/>
          </a:p>
          <a:p>
            <a:r>
              <a:rPr lang="de-DE"/>
              <a:t>Sagen Sie sinngemäß: Willkommen zur fünften Vorlesung. Nach der Regression gehen wir heute einen Schritt zurück. Wir fragen nicht zuerst, welches Modell wir rechnen, sondern: Wie müssen Daten aussehen, damit Analyse und Modellierung überhaupt sinnvoll möglich sind?</a:t>
            </a:r>
            <a:endParaRPr lang="de-DE"/>
          </a:p>
          <a:p>
            <a:r>
              <a:rPr lang="de-DE"/>
              <a:t>Betonen Sie: Rohdaten sind selten sofort analysebereit. Heute geht es um einen Workflow, der immer wieder gebraucht wird: einlesen, prüfen, bereinigen, neue Variablen erzeugen und am Ende eine Struktur vorbereiten, die später für Modelle genutzt werden kann.</a:t>
            </a:r>
            <a:endParaRPr lang="de-DE"/>
          </a:p>
          <a:p>
            <a:r>
              <a:rPr lang="de-DE"/>
              <a:t>Übergang: Wir ordnen zuerst ein, wo diese Sitzung im Kurs steht.</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die Sitzung in den Kursverlauf einbetten.</a:t>
            </a:r>
            <a:endParaRPr lang="de-DE"/>
          </a:p>
          <a:p>
            <a:r>
              <a:rPr lang="de-DE"/>
              <a:t>Sagen Sie: Wir haben die technische Umgebung aufgebaut, erste Notebooks genutzt und in Lecture 4 Regression als Vorhersage-Logik verstanden. Heute kommt die Datenbasis dazu. Ein Modell kann nur so gut sein wie die Daten, die hineingehen.</a:t>
            </a:r>
            <a:endParaRPr lang="de-DE"/>
          </a:p>
          <a:p>
            <a:r>
              <a:rPr lang="de-DE"/>
              <a:t>Kurzer Akzent: Data Handling ist nicht nur Vorarbeit. Es entscheidet oft darüber, ob spätere Ergebnisse sinnvoll interpretierbar sind.</a:t>
            </a:r>
            <a:endParaRPr lang="de-DE"/>
          </a:p>
          <a:p>
            <a:r>
              <a:rPr lang="de-DE"/>
              <a:t>Frage an die Gruppe: Was könnte bei einem Datensatz schiefgehen, bevor wir überhaupt ein Modell rechnen?</a:t>
            </a:r>
            <a:endParaRPr lang="de-DE"/>
          </a:p>
          <a:p>
            <a:r>
              <a:rPr lang="de-DE"/>
              <a:t>Übergang: Aus dieser Perspektive ergeben sich die konkreten Lernziele für heute.</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klare Erwartungen setzen.</a:t>
            </a:r>
            <a:endParaRPr lang="de-DE"/>
          </a:p>
          <a:p>
            <a:r>
              <a:rPr lang="de-DE"/>
              <a:t>Sagen Sie: Am Ende der Sitzung sollen Sie nicht jeden Befehl auswendig können. Wichtiger ist, dass Sie wissen, welche Fragen man an einen neuen Datensatz stellt und wie man diese Fragen mit pandas beantwortet.</a:t>
            </a:r>
            <a:endParaRPr lang="de-DE"/>
          </a:p>
          <a:p>
            <a:r>
              <a:rPr lang="de-DE"/>
              <a:t>Gehen Sie die Punkte langsam durch: CSV laden, Struktur prüfen, fehlende Werte erkennen, Kategorien bereinigen, neue Variablen bilden und schließlich Y und X vorbereiten.</a:t>
            </a:r>
            <a:endParaRPr lang="de-DE"/>
          </a:p>
          <a:p>
            <a:r>
              <a:rPr lang="de-DE"/>
              <a:t>Entlastender Hinweis: Die Syntax wird im Notebook wiederholbar dokumentiert. In der Sitzung geht es vor allem darum, die Arbeitslogik zu verstehen.</a:t>
            </a:r>
            <a:endParaRPr lang="de-DE"/>
          </a:p>
          <a:p>
            <a:r>
              <a:rPr lang="de-DE"/>
              <a:t>Übergang: Diese Arbeitslogik üben wir heute im Wechsel zwischen Folien und Notebook.</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Arbeitsmodus erklären und technische Unruhe reduzieren.</a:t>
            </a:r>
            <a:endParaRPr lang="de-DE"/>
          </a:p>
          <a:p>
            <a:r>
              <a:rPr lang="de-DE"/>
              <a:t>Sagen Sie: Wir arbeiten heute in kurzen Schleifen. Eine Folie gibt die Idee, danach probieren wir es im Notebook aus. Danach besprechen wir kurz, was passiert ist.</a:t>
            </a:r>
            <a:endParaRPr lang="de-DE"/>
          </a:p>
          <a:p>
            <a:r>
              <a:rPr lang="de-DE"/>
              <a:t>Bitte lassen Sie VS Code geöffnet. Es ist normal, wenn jemand einmal beim Kernel oder Dateipfad hängen bleibt. Wir lösen das möglichst kurz und kehren dann wieder zum Ablauf zurück.</a:t>
            </a:r>
            <a:endParaRPr lang="de-DE"/>
          </a:p>
          <a:p>
            <a:r>
              <a:rPr lang="de-DE"/>
              <a:t>Moderation: Wer schneller fertig ist, kann der Person neben sich helfen.</a:t>
            </a:r>
            <a:endParaRPr lang="de-DE"/>
          </a:p>
          <a:p>
            <a:r>
              <a:rPr lang="de-DE"/>
              <a:t>Übergang: Bevor wir Daten laden, prüfen wir ganz kurz, ob die Umgebung funktioniert.</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sicherstellen, dass die technische Basis steht.</a:t>
            </a:r>
            <a:endParaRPr lang="de-DE"/>
          </a:p>
          <a:p>
            <a:r>
              <a:rPr lang="de-DE"/>
              <a:t>Sagen Sie: Dieser Check ist bewusst kurz. Wir prüfen nicht die gesamte Installation, sondern nur das, was wir heute brauchen: richtiger Ordner, richtiger Kernel, pandas und sichtbare CSV-Datei.</a:t>
            </a:r>
            <a:endParaRPr lang="de-DE"/>
          </a:p>
          <a:p>
            <a:r>
              <a:rPr lang="de-DE"/>
              <a:t>Wichtig formulieren: Der Projektordner ist der Ort der Dateien. Das Conda-Environment ist die Python-Umgebung. Der Kernel ist das Python, das ein Notebook tatsächlich verwendet.</a:t>
            </a:r>
            <a:endParaRPr lang="de-DE"/>
          </a:p>
          <a:p>
            <a:r>
              <a:rPr lang="de-DE"/>
              <a:t>Aktion: Alle öffnen Notebook 1 und führen die erste Import-Zelle aus.</a:t>
            </a:r>
            <a:endParaRPr lang="de-DE"/>
          </a:p>
          <a:p>
            <a:r>
              <a:rPr lang="de-DE"/>
              <a:t>Übergang: Wenn der Minimalcheck funktioniert, starten wir mit Notebook 1.</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erster Wechsel ins Notebook.</a:t>
            </a:r>
            <a:endParaRPr lang="de-DE"/>
          </a:p>
          <a:p>
            <a:r>
              <a:rPr lang="de-DE"/>
              <a:t>Sagen Sie: Jetzt wechseln wir gemeinsam in VS Code. Öffnen Sie Notebook 1. Wir prüfen den Kernel und führen die ersten Zellen aus.</a:t>
            </a:r>
            <a:endParaRPr lang="de-DE"/>
          </a:p>
          <a:p>
            <a:r>
              <a:rPr lang="de-DE"/>
              <a:t>Erwartung: `df.head()` sollte eine kleine Tabelle zeigen. Wenn eine Fehlermeldung kommt, prüfen Sie zuerst, ob die CSV-Datei im gleichen Ordner liegt.</a:t>
            </a:r>
            <a:endParaRPr lang="de-DE"/>
          </a:p>
          <a:p>
            <a:r>
              <a:rPr lang="de-DE"/>
              <a:t>Moderation: Nicht zu lange an Einzelfällen hängen. Bei größeren Problemen Studierende bitten, kurz mitzuschauen oder später gezielt nachzuziehen.</a:t>
            </a:r>
            <a:endParaRPr lang="de-DE"/>
          </a:p>
          <a:p>
            <a:r>
              <a:rPr lang="de-DE"/>
              <a:t>Übergang zurück zur Folie: Sobald alle den Datensatz sehen, erklären wir, warum dieser Schritt für jede Analyse so wichtig ist.</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Bedeutung von Data Handling klären.</a:t>
            </a:r>
            <a:endParaRPr lang="de-DE"/>
          </a:p>
          <a:p>
            <a:r>
              <a:rPr lang="de-DE"/>
              <a:t>Sagen Sie: Data Handling klingt manchmal wie ein technischer Nebenschritt. Tatsächlich ist es ein Kernteil jeder Datenanalyse. Fehlende Werte, uneinheitliche Kategorien oder unplausible Zahlen können Ergebnisse stärker verändern als das spätere Modell.</a:t>
            </a:r>
            <a:endParaRPr lang="de-DE"/>
          </a:p>
          <a:p>
            <a:r>
              <a:rPr lang="de-DE"/>
              <a:t>Beispiel nennen: Wenn `Sales` und `sales` als zwei Abteilungen gezählt werden, ist jeder Gruppenvergleich fragwürdig.</a:t>
            </a:r>
            <a:endParaRPr lang="de-DE"/>
          </a:p>
          <a:p>
            <a:r>
              <a:rPr lang="de-DE"/>
              <a:t>Frage: Welche Art von Datenproblem wäre bei einer Mitarbeiterbefragung besonders kritisch?</a:t>
            </a:r>
            <a:endParaRPr lang="de-DE"/>
          </a:p>
          <a:p>
            <a:r>
              <a:rPr lang="de-DE"/>
              <a:t>Übergang: Um solche Probleme systematisch zu bearbeiten, nutzen wir eine Pipeline.</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Pipeline als roten Faden etablieren.</a:t>
            </a:r>
            <a:endParaRPr lang="de-DE"/>
          </a:p>
          <a:p>
            <a:r>
              <a:rPr lang="de-DE"/>
              <a:t>Sagen Sie: Diese Folie ist unser Fahrplan. Wir starten bei Rohdaten. Danach prüfen und bereinigen wir. Dann haben wir analysis-ready data. Wenn wir modellieren wollen, brauchen wir zusätzlich model-ready data mit klarer Zielvariable Y und Prädiktoren X.</a:t>
            </a:r>
            <a:endParaRPr lang="de-DE"/>
          </a:p>
          <a:p>
            <a:r>
              <a:rPr lang="de-DE"/>
              <a:t>Betonen Sie: Nicht jeder Datensatz muss sofort model-ready sein. Aber jeder Datensatz sollte zumindest verstanden und geprüft werden.</a:t>
            </a:r>
            <a:endParaRPr lang="de-DE"/>
          </a:p>
          <a:p>
            <a:r>
              <a:rPr lang="de-DE"/>
              <a:t>Übergang: Wir schauen uns jetzt den konkreten Datensatz an, mit dem wir heute arbeiten.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Beispieldatensatz vorstellen.</a:t>
            </a:r>
            <a:endParaRPr lang="de-DE"/>
          </a:p>
          <a:p>
            <a:r>
              <a:rPr lang="de-DE"/>
              <a:t>Sagen Sie: Der Datensatz ist fiktiv, aber absichtlich realistisch unordentlich. Er enthält typische Probleme: Missing Values, unterschiedliche Schreibweisen, unplausible Werte und eine doppelte ID.</a:t>
            </a:r>
            <a:endParaRPr lang="de-DE"/>
          </a:p>
          <a:p>
            <a:r>
              <a:rPr lang="de-DE"/>
              <a:t>Interaktion: Fragen Sie: Welche Spalten würden Sie zuerst prüfen, wenn Sie diesen Datensatz bekommen?</a:t>
            </a:r>
            <a:endParaRPr lang="de-DE"/>
          </a:p>
          <a:p>
            <a:r>
              <a:rPr lang="de-DE"/>
              <a:t>Nehmen Sie 2-3 Antworten auf. Falls nötig, lenken Sie auf Kategorien, Skalenbereiche und IDs.</a:t>
            </a:r>
            <a:endParaRPr lang="de-DE"/>
          </a:p>
          <a:p>
            <a:r>
              <a:rPr lang="de-DE"/>
              <a:t>Übergang: Bevor wir prüfen, erinnern wir uns an die einfache Tabellenlogik.</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DataFrame-Grundstruktur sichern.</a:t>
            </a:r>
            <a:endParaRPr lang="de-DE"/>
          </a:p>
          <a:p>
            <a:r>
              <a:rPr lang="de-DE"/>
              <a:t>Sagen Sie: Diese Struktur kennen viele aus Excel oder SPSS. Eine Zeile ist ein Fall, eine Spalte ist eine Variable, eine Zelle ist ein einzelner Wert.</a:t>
            </a:r>
            <a:endParaRPr lang="de-DE"/>
          </a:p>
          <a:p>
            <a:r>
              <a:rPr lang="de-DE"/>
              <a:t>Wichtig: Der pandas-Index ist eine technische Zeilenbeschriftung. Er ist nicht automatisch eine inhaltliche ID.</a:t>
            </a:r>
            <a:endParaRPr lang="de-DE"/>
          </a:p>
          <a:p>
            <a:r>
              <a:rPr lang="de-DE"/>
              <a:t>Kurze Demo-Idee: Zeigen Sie eine Zelle mit `df.loc[0, 'satisfaction']`.</a:t>
            </a:r>
            <a:endParaRPr lang="de-DE"/>
          </a:p>
          <a:p>
            <a:r>
              <a:rPr lang="de-DE"/>
              <a:t>Übergang: Jetzt gehen wir wieder ins Notebook und lesen die Rohdaten bewusst ein.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Rohdaten laden und erste Sichtprüfung machen.</a:t>
            </a:r>
            <a:endParaRPr lang="de-DE"/>
          </a:p>
          <a:p>
            <a:r>
              <a:rPr lang="de-DE"/>
              <a:t>Sagen Sie vor dem Wechsel: Im Notebook geht es jetzt nur um Orientierung. Wir laden die CSV und schauen, ob die Daten so aussehen, wie wir erwarten.</a:t>
            </a:r>
            <a:endParaRPr lang="de-DE"/>
          </a:p>
          <a:p>
            <a:r>
              <a:rPr lang="de-DE"/>
              <a:t>Aktion: Studierende führen die Zellen zu `read_csv`, `head`, `shape` und `columns` aus.</a:t>
            </a:r>
            <a:endParaRPr lang="de-DE"/>
          </a:p>
          <a:p>
            <a:r>
              <a:rPr lang="de-DE"/>
              <a:t>Frage nach der Ausführung: Was lernen wir aus `shape`, was wir aus `head` nicht lernen?</a:t>
            </a:r>
            <a:endParaRPr lang="de-DE"/>
          </a:p>
          <a:p>
            <a:r>
              <a:rPr lang="de-DE"/>
              <a:t>Übergang: Nach diesem ersten Blick brauchen wir ein kleines Standardset an Diagnosebefehlen.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Standardbefehle als wiederholbare Routine einführen.</a:t>
            </a:r>
            <a:endParaRPr lang="de-DE"/>
          </a:p>
          <a:p>
            <a:r>
              <a:rPr lang="de-DE"/>
              <a:t>Sagen Sie: Diese fünf Befehle sind ein Grundwerkzeug für fast jeden neuen Datensatz. Sie sind nicht spektakulär, aber sehr wirksam.</a:t>
            </a:r>
            <a:endParaRPr lang="de-DE"/>
          </a:p>
          <a:p>
            <a:r>
              <a:rPr lang="de-DE"/>
              <a:t>Gehen Sie kurz durch: `head` zeigt Beispiele, `shape` die Größe, `info` Datentypen und fehlende Werte, `describe` numerische Verteilungen, `value_counts` Kategorien.</a:t>
            </a:r>
            <a:endParaRPr lang="de-DE"/>
          </a:p>
          <a:p>
            <a:r>
              <a:rPr lang="de-DE"/>
              <a:t>Wichtig: Diese Befehle liefern noch keine fertige Interpretation. Sie helfen beim Audit.</a:t>
            </a:r>
            <a:endParaRPr lang="de-DE"/>
          </a:p>
          <a:p>
            <a:r>
              <a:rPr lang="de-DE"/>
              <a:t>Übergang: Aus diesen Befehlen ergeben sich vier Diagnosefragen.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Diagnosefragen strukturieren.</a:t>
            </a:r>
            <a:endParaRPr lang="de-DE"/>
          </a:p>
          <a:p>
            <a:r>
              <a:rPr lang="de-DE"/>
              <a:t>Sagen Sie: Bevor wir bereinigen, müssen wir wissen, welches Problem wir haben. Die vier Fragen sind eine Art Checkliste.</a:t>
            </a:r>
            <a:endParaRPr lang="de-DE"/>
          </a:p>
          <a:p>
            <a:r>
              <a:rPr lang="de-DE"/>
              <a:t>Interaktion: Welche Frage ist bei Befragungsdaten besonders kritisch? Lassen Sie kurz sammeln.</a:t>
            </a:r>
            <a:endParaRPr lang="de-DE"/>
          </a:p>
          <a:p>
            <a:r>
              <a:rPr lang="de-DE"/>
              <a:t>Mögliche Rahmung: Fehlende Werte können systematisch sein; Kategorien können unabsichtlich getrennt werden; Wertebereiche sind bei Skalen wichtig.</a:t>
            </a:r>
            <a:endParaRPr lang="de-DE"/>
          </a:p>
          <a:p>
            <a:r>
              <a:rPr lang="de-DE"/>
              <a:t>Übergang: Wir starten mit einem der häufigsten Probleme: fehlenden Werten.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Missing Values konzeptuell einordnen.</a:t>
            </a:r>
            <a:endParaRPr lang="de-DE"/>
          </a:p>
          <a:p>
            <a:r>
              <a:rPr lang="de-DE"/>
              <a:t>Sagen Sie: Fehlende Werte sind nicht einfach nur Lücken. Sie können auch Information enthalten. Vielleicht wurde eine Frage vergessen, vielleicht bewusst übersprungen, vielleicht technisch nicht erfasst.</a:t>
            </a:r>
            <a:endParaRPr lang="de-DE"/>
          </a:p>
          <a:p>
            <a:r>
              <a:rPr lang="de-DE"/>
              <a:t>Betonen Sie: Deshalb nicht reflexartig löschen oder ersetzen. Erst sichtbar machen, dann entscheiden.</a:t>
            </a:r>
            <a:endParaRPr lang="de-DE"/>
          </a:p>
          <a:p>
            <a:r>
              <a:rPr lang="de-DE"/>
              <a:t>Aktion vorbereiten: Im Notebook zählen wir gleich fehlende Werte pro Spalte.</a:t>
            </a:r>
            <a:endParaRPr lang="de-DE"/>
          </a:p>
          <a:p>
            <a:r>
              <a:rPr lang="de-DE"/>
              <a:t>Übergang: Wir wechseln in Notebook 1 und prüfen Missing Values sowie Kategorien.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Missingness und Kategorien sichtbar machen.</a:t>
            </a:r>
            <a:endParaRPr lang="de-DE"/>
          </a:p>
          <a:p>
            <a:r>
              <a:rPr lang="de-DE"/>
              <a:t>Sagen Sie: Führen Sie die Zellen aus und schauen Sie besonders auf die Sortierung der Missing Values und auf die `value_counts` der Kategorien.</a:t>
            </a:r>
            <a:endParaRPr lang="de-DE"/>
          </a:p>
          <a:p>
            <a:r>
              <a:rPr lang="de-DE"/>
              <a:t>Interaktion: Welche Kategorie scheint eigentlich dieselbe Bedeutung zu haben, ist aber unterschiedlich geschrieben?</a:t>
            </a:r>
            <a:endParaRPr lang="de-DE"/>
          </a:p>
          <a:p>
            <a:r>
              <a:rPr lang="de-DE"/>
              <a:t>Falls Zeit: Lassen Sie eine Person nennen, welche Bereinigung sie für `department` vorschlagen würde.</a:t>
            </a:r>
            <a:endParaRPr lang="de-DE"/>
          </a:p>
          <a:p>
            <a:r>
              <a:rPr lang="de-DE"/>
              <a:t>Übergang: Aus der Diagnose wird jetzt ein Bereinigungsschritt.</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Kategorienbereinigung erklären.</a:t>
            </a:r>
            <a:endParaRPr lang="de-DE"/>
          </a:p>
          <a:p>
            <a:r>
              <a:rPr lang="de-DE"/>
              <a:t>Sagen Sie: Für Menschen ist klar, dass `Sales`, `sales` und manchmal auch eine Variante mit Leerzeichen dieselbe Kategorie meinen können. Für pandas sind das zunächst unterschiedliche Texte.</a:t>
            </a:r>
            <a:endParaRPr lang="de-DE"/>
          </a:p>
          <a:p>
            <a:r>
              <a:rPr lang="de-DE"/>
              <a:t>Betonen Sie: Kategorienbereinigung ist nicht nur Kosmetik. Später können Kategorien zu Modellvariablen werden.</a:t>
            </a:r>
            <a:endParaRPr lang="de-DE"/>
          </a:p>
          <a:p>
            <a:r>
              <a:rPr lang="de-DE"/>
              <a:t>Code erklären: `astype('string')`, `str.strip()` und `str.lower()` sind einfache Standardisierungen.</a:t>
            </a:r>
            <a:endParaRPr lang="de-DE"/>
          </a:p>
          <a:p>
            <a:r>
              <a:rPr lang="de-DE"/>
              <a:t>Übergang: Neben Kategorien müssen wir auch prüfen, ob Fälle doppelt vorhanden sind.</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Dubletten als Analyseproblem erklären.</a:t>
            </a:r>
            <a:endParaRPr lang="de-DE"/>
          </a:p>
          <a:p>
            <a:r>
              <a:rPr lang="de-DE"/>
              <a:t>Sagen Sie: Wenn eine Person doppelt im Datensatz steht, zählt sie doppelt. Das kann Mittelwerte und Modelle verzerren.</a:t>
            </a:r>
            <a:endParaRPr lang="de-DE"/>
          </a:p>
          <a:p>
            <a:r>
              <a:rPr lang="de-DE"/>
              <a:t>Wichtig: In echten Projekten löscht man Dubletten nicht immer automatisch. Man prüft, welcher Eintrag korrekt ist. In dieser Übung behalten wir den ersten Eintrag, um den Workflow zu zeigen.</a:t>
            </a:r>
            <a:endParaRPr lang="de-DE"/>
          </a:p>
          <a:p>
            <a:r>
              <a:rPr lang="de-DE"/>
              <a:t>Übergang: Jetzt setzen wir Kategorienbereinigung und Dublettenprüfung im Notebook um.</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Bereinigungsschritte im Notebook umsetzen.</a:t>
            </a:r>
            <a:endParaRPr lang="de-DE"/>
          </a:p>
          <a:p>
            <a:r>
              <a:rPr lang="de-DE"/>
              <a:t>Aktion: Studierende erstellen `clean = df.copy()`, bereinigen Kategorien und prüfen Dubletten.</a:t>
            </a:r>
            <a:endParaRPr lang="de-DE"/>
          </a:p>
          <a:p>
            <a:r>
              <a:rPr lang="de-DE"/>
              <a:t>Sagen Sie: Achten Sie darauf, dass wir den Rohdatensatz nicht überschreiben. Die Kopie `clean` dokumentiert unsere Bereinigungsschritte.</a:t>
            </a:r>
            <a:endParaRPr lang="de-DE"/>
          </a:p>
          <a:p>
            <a:r>
              <a:rPr lang="de-DE"/>
              <a:t>Frage: Warum ist eine Kopie sinnvoll?</a:t>
            </a:r>
            <a:endParaRPr lang="de-DE"/>
          </a:p>
          <a:p>
            <a:r>
              <a:rPr lang="de-DE"/>
              <a:t>Erwartete Antwort: Rohdaten bleiben reproduzierbar; Bereinigung ist nachvollziehbar.</a:t>
            </a:r>
            <a:endParaRPr lang="de-DE"/>
          </a:p>
          <a:p>
            <a:r>
              <a:rPr lang="de-DE"/>
              <a:t>Übergang: Nach Textkategorien prüfen wir numerische Wertebereiche.</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ns2:creationId val="1024086991"/>
      </p:ext>
    </p:extLst>
  </p:cSld>
  <p:clrMapOvr>
    <a:masterClrMapping/>
  </p:clrMapOvr>
</p:notes>
</file>

<file path=ppt/notesSlides/notesSlide1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plausible Wertebereiche einführen.</a:t>
            </a:r>
            <a:endParaRPr lang="de-DE"/>
          </a:p>
          <a:p>
            <a:r>
              <a:rPr lang="de-DE"/>
              <a:t>Sagen Sie: Ein Wert kann technisch vorhanden sein und trotzdem inhaltlich falsch sein. Negative Schlafdauer ist ein offensichtliches Beispiel. Bei Skalen von 1 bis 5 sind Werte außerhalb dieses Bereichs ebenfalls unplausibel.</a:t>
            </a:r>
            <a:endParaRPr lang="de-DE"/>
          </a:p>
          <a:p>
            <a:r>
              <a:rPr lang="de-DE"/>
              <a:t>Interaktion: Welche Regeln sind eindeutig? Welche müssten wir diskutieren?</a:t>
            </a:r>
            <a:endParaRPr lang="de-DE"/>
          </a:p>
          <a:p>
            <a:r>
              <a:rPr lang="de-DE"/>
              <a:t>Betonen Sie: Regeln sind Teil der Datenentscheidung und sollten dokumentiert werden.</a:t>
            </a:r>
            <a:endParaRPr lang="de-DE"/>
          </a:p>
          <a:p>
            <a:r>
              <a:rPr lang="de-DE"/>
              <a:t>Übergang: Im Notebook setzen wir Werte außerhalb gültiger Bereiche auf fehlend.</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ns2:creationId val="1024086991"/>
      </p:ext>
    </p:extLst>
  </p:cSld>
  <p:clrMapOvr>
    <a:masterClrMapping/>
  </p:clrMapOvr>
</p:notes>
</file>

<file path=ppt/notesSlides/notesSlide2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ungültige Werte markieren.</a:t>
            </a:r>
            <a:endParaRPr lang="de-DE"/>
          </a:p>
          <a:p>
            <a:r>
              <a:rPr lang="de-DE"/>
              <a:t>Sagen Sie: Wir löschen nicht blind ganze Personen. Wir markieren zuerst gezielt die problematischen Werte als fehlend. Dadurch bleibt sichtbar, dass hier ein Datenproblem vorlag.</a:t>
            </a:r>
            <a:endParaRPr lang="de-DE"/>
          </a:p>
          <a:p>
            <a:r>
              <a:rPr lang="de-DE"/>
              <a:t>Aktion: Studierende führen die Regeln aus und prüfen anschließend erneut die Missingness.</a:t>
            </a:r>
            <a:endParaRPr lang="de-DE"/>
          </a:p>
          <a:p>
            <a:r>
              <a:rPr lang="de-DE"/>
              <a:t>Hinweis: Wenn jemand ein anderes Ergebnis bekommt, zuerst prüfen, ob die vorherigen Zellen in Reihenfolge ausgeführt wurden.</a:t>
            </a:r>
            <a:endParaRPr lang="de-DE"/>
          </a:p>
          <a:p>
            <a:r>
              <a:rPr lang="de-DE"/>
              <a:t>Übergang: Sobald ungültige Werte als fehlend markiert sind, müssen wir entscheiden, wie wir mit Missing Values umgehen.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ns2:creationId val="1024086991"/>
      </p:ext>
    </p:extLst>
  </p:cSld>
  <p:clrMapOvr>
    <a:masterClrMapping/>
  </p:clrMapOvr>
</p:notes>
</file>

<file path=ppt/notesSlides/notesSlide2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Strategien für fehlende Werte erklären.</a:t>
            </a:r>
            <a:endParaRPr lang="de-DE"/>
          </a:p>
          <a:p>
            <a:r>
              <a:rPr lang="de-DE"/>
              <a:t>Sagen Sie: Es gibt mehrere Möglichkeiten: löschen, ersetzen oder fehlend bewusst als Information behandeln. Für diese Übung verwenden wir Median-Imputation, weil sie einfach und robust ist.</a:t>
            </a:r>
            <a:endParaRPr lang="de-DE"/>
          </a:p>
          <a:p>
            <a:r>
              <a:rPr lang="de-DE"/>
              <a:t>Wichtig: Median-Imputation ist nicht automatisch die beste Lösung. Sie ist heute eine transparente Demo-Entscheidung.</a:t>
            </a:r>
            <a:endParaRPr lang="de-DE"/>
          </a:p>
          <a:p>
            <a:r>
              <a:rPr lang="de-DE"/>
              <a:t>Kurze Rückbindung: Genau solche Entscheidungen sollten später in einer Analyse dokumentiert werden.</a:t>
            </a:r>
            <a:endParaRPr lang="de-DE"/>
          </a:p>
          <a:p>
            <a:r>
              <a:rPr lang="de-DE"/>
              <a:t>Übergang: Wir wenden die Strategie im Notebook an und speichern den bereinigten Datensatz.</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ns2:creationId val="1024086991"/>
      </p:ext>
    </p:extLst>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bereinigte Daten erzeugen und speichern.</a:t>
            </a:r>
            <a:endParaRPr lang="de-DE"/>
          </a:p>
          <a:p>
            <a:r>
              <a:rPr lang="de-DE"/>
              <a:t>Aktion: Studierende führen die Imputation durch und speichern `lecture_05_employee_survey_cleaned.csv`.</a:t>
            </a:r>
            <a:endParaRPr lang="de-DE"/>
          </a:p>
          <a:p>
            <a:r>
              <a:rPr lang="de-DE"/>
              <a:t>Sagen Sie: Das Speichern ist wichtig, weil Notebook 2 auf diesem bereinigten Stand aufbaut. Wir wollen nicht jedes Mal alle Rohdaten-Schritte wiederholen müssen.</a:t>
            </a:r>
            <a:endParaRPr lang="de-DE"/>
          </a:p>
          <a:p>
            <a:r>
              <a:rPr lang="de-DE"/>
              <a:t>Kontrollcheck: `clean.isna().sum().sum()` sollte 0 ergeben.</a:t>
            </a:r>
            <a:endParaRPr lang="de-DE"/>
          </a:p>
          <a:p>
            <a:r>
              <a:rPr lang="de-DE"/>
              <a:t>Übergang: Aus dem bereinigten Datensatz erzeugen wir jetzt neue, inhaltlich nützliche Variablen.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Feature Engineering niedrigschwellig erklären.</a:t>
            </a:r>
            <a:endParaRPr lang="de-DE"/>
          </a:p>
          <a:p>
            <a:r>
              <a:rPr lang="de-DE"/>
              <a:t>Sagen Sie: Feature Engineering heißt: Wir erzeugen Variablen, die für unsere Frage besser nutzbar sind als einzelne Rohspalten. Das kann sehr einfach sein, zum Beispiel ein Mittelwert aus zwei Items.</a:t>
            </a:r>
            <a:endParaRPr lang="de-DE"/>
          </a:p>
          <a:p>
            <a:r>
              <a:rPr lang="de-DE"/>
              <a:t>Betonen Sie: Ein Feature ist nicht nur ein technisches Produkt, sondern eine inhaltliche Entscheidung.</a:t>
            </a:r>
            <a:endParaRPr lang="de-DE"/>
          </a:p>
          <a:p>
            <a:r>
              <a:rPr lang="de-DE"/>
              <a:t>Beispiel: `workload_mean` ist verständlicher als zwei getrennte Workload-Items, wenn beide dasselbe Konstrukt messen.</a:t>
            </a:r>
            <a:endParaRPr lang="de-DE"/>
          </a:p>
          <a:p>
            <a:r>
              <a:rPr lang="de-DE"/>
              <a:t>Übergang: Diese Schritte machen wir in Notebook 2.</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ns2:creationId val="1024086991"/>
      </p:ext>
    </p:extLst>
  </p:cSld>
  <p:clrMapOvr>
    <a:masterClrMapping/>
  </p:clrMapOvr>
</p:notes>
</file>

<file path=ppt/notesSlides/notesSlide2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Wechsel zu Notebook 2.</a:t>
            </a:r>
            <a:endParaRPr lang="de-DE"/>
          </a:p>
          <a:p>
            <a:r>
              <a:rPr lang="de-DE"/>
              <a:t>Sagen Sie: Öffnen Sie Notebook 2. Wenn Notebook 1 erfolgreich gelaufen ist, wird die bereinigte CSV geladen. Falls nicht, gibt es eine Referenzdatei, damit alle weiterarbeiten können.</a:t>
            </a:r>
            <a:endParaRPr lang="de-DE"/>
          </a:p>
          <a:p>
            <a:r>
              <a:rPr lang="de-DE"/>
              <a:t>Aktion: Skalenmittelwerte berechnen und `overload_index` erzeugen.</a:t>
            </a:r>
            <a:endParaRPr lang="de-DE"/>
          </a:p>
          <a:p>
            <a:r>
              <a:rPr lang="de-DE"/>
              <a:t>Frage: Welche der neuen Variablen wirkt inhaltlich am plausibelsten? Welche wäre eher diskutierbar?</a:t>
            </a:r>
            <a:endParaRPr lang="de-DE"/>
          </a:p>
          <a:p>
            <a:r>
              <a:rPr lang="de-DE"/>
              <a:t>Übergang: Danach beschreiben wir den bereinigten Datensatz.</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ns2:creationId val="1024086991"/>
      </p:ext>
    </p:extLst>
  </p:cSld>
  <p:clrMapOvr>
    <a:masterClrMapping/>
  </p:clrMapOvr>
</p:notes>
</file>

<file path=ppt/notesSlides/notesSlide2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Summary Statistics nach der Bereinigung einordnen.</a:t>
            </a:r>
            <a:endParaRPr lang="de-DE"/>
          </a:p>
          <a:p>
            <a:r>
              <a:rPr lang="de-DE"/>
              <a:t>Sagen Sie: Jetzt sind deskriptive Statistiken aussagekräftiger, weil die groben Datenprobleme behandelt wurden.</a:t>
            </a:r>
            <a:endParaRPr lang="de-DE"/>
          </a:p>
          <a:p>
            <a:r>
              <a:rPr lang="de-DE"/>
              <a:t>Betonen Sie: Summary Statistics sind noch keine Kausalerklärung. Sie beschreiben Verteilungen und Muster.</a:t>
            </a:r>
            <a:endParaRPr lang="de-DE"/>
          </a:p>
          <a:p>
            <a:r>
              <a:rPr lang="de-DE"/>
              <a:t>Nennen Sie Beispiele: Mittelwert, Standardabweichung, Min, Max, Gruppenmittelwerte.</a:t>
            </a:r>
            <a:endParaRPr lang="de-DE"/>
          </a:p>
          <a:p>
            <a:r>
              <a:rPr lang="de-DE"/>
              <a:t>Übergang: Im Notebook berechnen wir genau diese Kennzahlen.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ns2:creationId val="1024086991"/>
      </p:ext>
    </p:extLst>
  </p:cSld>
  <p:clrMapOvr>
    <a:masterClrMapping/>
  </p:clrMapOvr>
</p:notes>
</file>

<file path=ppt/notesSlides/notesSlide2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erste Deskription im Notebook.</a:t>
            </a:r>
            <a:endParaRPr lang="de-DE"/>
          </a:p>
          <a:p>
            <a:r>
              <a:rPr lang="de-DE"/>
              <a:t>Aktion: Studierende führen `describe()` und `groupby()` aus.</a:t>
            </a:r>
            <a:endParaRPr lang="de-DE"/>
          </a:p>
          <a:p>
            <a:r>
              <a:rPr lang="de-DE"/>
              <a:t>Sagen Sie: Achten Sie darauf, wie sich die Perspektive ändert. Erst haben wir Daten geprüft, jetzt beschreiben wir Daten.</a:t>
            </a:r>
            <a:endParaRPr lang="de-DE"/>
          </a:p>
          <a:p>
            <a:r>
              <a:rPr lang="de-DE"/>
              <a:t>Interaktion: Welche Gruppe hat im Beispiel den höchsten Mittelwert bei Zufriedenheit? Was dürfen wir daraus noch nicht schließen?</a:t>
            </a:r>
            <a:endParaRPr lang="de-DE"/>
          </a:p>
          <a:p>
            <a:r>
              <a:rPr lang="de-DE"/>
              <a:t>Erwartung: Keine kausale Aussage.</a:t>
            </a:r>
            <a:endParaRPr lang="de-DE"/>
          </a:p>
          <a:p>
            <a:r>
              <a:rPr lang="de-DE"/>
              <a:t>Übergang: Jetzt knüpfen wir wieder an die Regression an: Für Modelle brauchen wir Y und X.</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ns2:creationId val="1024086991"/>
      </p:ext>
    </p:extLst>
  </p:cSld>
  <p:clrMapOvr>
    <a:masterClrMapping/>
  </p:clrMapOvr>
</p:notes>
</file>

<file path=ppt/notesSlides/notesSlide2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Brücke von Data Handling zu Modellierung.</a:t>
            </a:r>
            <a:endParaRPr lang="de-DE"/>
          </a:p>
          <a:p>
            <a:r>
              <a:rPr lang="de-DE"/>
              <a:t>Sagen Sie: In Lecture 4 haben wir mit Y und X gearbeitet. Heute sehen wir, wie diese Objekte praktisch in pandas entstehen.</a:t>
            </a:r>
            <a:endParaRPr lang="de-DE"/>
          </a:p>
          <a:p>
            <a:r>
              <a:rPr lang="de-DE"/>
              <a:t>Y ist die Zielvariable. X ist eine Tabelle aus Prädiktoren. Jede Zeile in X muss zur gleichen Person gehören wie der entsprechende Wert in Y.</a:t>
            </a:r>
            <a:endParaRPr lang="de-DE"/>
          </a:p>
          <a:p>
            <a:r>
              <a:rPr lang="de-DE"/>
              <a:t>Wichtig: IDs bleiben zur Verwaltung erhalten, aber normalerweise nicht als Prädiktoren.</a:t>
            </a:r>
            <a:endParaRPr lang="de-DE"/>
          </a:p>
          <a:p>
            <a:r>
              <a:rPr lang="de-DE"/>
              <a:t>Übergang: Kategoriale Variablen müssen vor der Modellierung noch numerisch vorbereitet werden.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ns2:creationId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Dummy-Codierung erklären.</a:t>
            </a:r>
            <a:endParaRPr lang="de-DE"/>
          </a:p>
          <a:p>
            <a:r>
              <a:rPr lang="de-DE"/>
              <a:t>Sagen Sie: Viele Modelle können mit Textkategorien nicht direkt rechnen. `department` als Text muss daher in 0/1-Spalten übersetzt werden.</a:t>
            </a:r>
            <a:endParaRPr lang="de-DE"/>
          </a:p>
          <a:p>
            <a:r>
              <a:rPr lang="de-DE"/>
              <a:t>Beispiel: Eine Dummy-Spalte zeigt, ob eine Person zu einer bestimmten Kategorie gehört.</a:t>
            </a:r>
            <a:endParaRPr lang="de-DE"/>
          </a:p>
          <a:p>
            <a:r>
              <a:rPr lang="de-DE"/>
              <a:t>Betonen Sie: Auch diese Codierung ist Data Handling und Modellvorbereitung, nicht nur technischer Formalismus.</a:t>
            </a:r>
            <a:endParaRPr lang="de-DE"/>
          </a:p>
          <a:p>
            <a:r>
              <a:rPr lang="de-DE"/>
              <a:t>Übergang: Im Notebook bauen wir nun die Feature-Matrix X.</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Y und X praktisch erzeugen.</a:t>
            </a:r>
            <a:endParaRPr lang="de-DE"/>
          </a:p>
          <a:p>
            <a:r>
              <a:rPr lang="de-DE"/>
              <a:t>Aktion: Studierende definieren `y`, `X_num`, `X_cat` und `X`.</a:t>
            </a:r>
            <a:endParaRPr lang="de-DE"/>
          </a:p>
          <a:p>
            <a:r>
              <a:rPr lang="de-DE"/>
              <a:t>Sagen Sie: Prüfen Sie die Dimensionen. `y` hat eine Spalte bzw. einen Vektor, `X` hat mehrere Prädiktorspalten.</a:t>
            </a:r>
            <a:endParaRPr lang="de-DE"/>
          </a:p>
          <a:p>
            <a:r>
              <a:rPr lang="de-DE"/>
              <a:t>Kontrollfrage: Warum darf `satisfaction` nicht in X landen, wenn `satisfaction` Y ist?</a:t>
            </a:r>
            <a:endParaRPr lang="de-DE"/>
          </a:p>
          <a:p>
            <a:r>
              <a:rPr lang="de-DE"/>
              <a:t>Übergang: Daraus folgt eine allgemeine Regel: Nicht alles, was im Datensatz steht, gehört in ein Modell.</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ns2:creationId val="1024086991"/>
      </p:ext>
    </p:extLst>
  </p:cSld>
  <p:clrMapOvr>
    <a:masterClrMapping/>
  </p:clrMapOvr>
</p:notes>
</file>

<file path=ppt/notesSlides/notesSlide3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Modellierungsentscheidungen vorbereiten.</a:t>
            </a:r>
            <a:endParaRPr lang="de-DE"/>
          </a:p>
          <a:p>
            <a:r>
              <a:rPr lang="de-DE"/>
              <a:t>Sagen Sie: Data Handling schützt auch vor schlechten Modellentscheidungen. IDs, Zielvariable oder Zukunftsinformationen dürfen nicht einfach als Prädiktoren genutzt werden.</a:t>
            </a:r>
            <a:endParaRPr lang="de-DE"/>
          </a:p>
          <a:p>
            <a:r>
              <a:rPr lang="de-DE"/>
              <a:t>Interaktion: Welche Spalten würden Sie aus X ausschließen? Warum?</a:t>
            </a:r>
            <a:endParaRPr lang="de-DE"/>
          </a:p>
          <a:p>
            <a:r>
              <a:rPr lang="de-DE"/>
              <a:t>Beispiel geben: `participant_id` identifiziert Personen, erklärt aber nicht sinnvoll Zufriedenheit.</a:t>
            </a:r>
            <a:endParaRPr lang="de-DE"/>
          </a:p>
          <a:p>
            <a:r>
              <a:rPr lang="de-DE"/>
              <a:t>Übergang: Optional zeigen wir kurz, wie nah wir damit schon an einem Modell sind.</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ns2:creationId val="1024086991"/>
      </p:ext>
    </p:extLst>
  </p:cSld>
  <p:clrMapOvr>
    <a:masterClrMapping/>
  </p:clrMapOvr>
</p:notes>
</file>

<file path=ppt/notesSlides/notesSlide3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Übergang zur Modellierung zeigen, ohne den Fokus zu verschieben.</a:t>
            </a:r>
            <a:endParaRPr lang="de-DE"/>
          </a:p>
          <a:p>
            <a:r>
              <a:rPr lang="de-DE"/>
              <a:t>Sagen Sie: Dieser Schritt ist optional und nicht die eigentliche Modellierungslecture. Er zeigt nur: Wenn Y und X sauber vorbereitet sind, kann ein Modell technisch sehr schnell berechnet werden.</a:t>
            </a:r>
            <a:endParaRPr lang="de-DE"/>
          </a:p>
          <a:p>
            <a:r>
              <a:rPr lang="de-DE"/>
              <a:t>Betonen Sie: Die Interpretation wäre ein eigener Schritt. Heute geht es um die Datenvorbereitung.</a:t>
            </a:r>
            <a:endParaRPr lang="de-DE"/>
          </a:p>
          <a:p>
            <a:r>
              <a:rPr lang="de-DE"/>
              <a:t>Aktion: Bei Zeit den Mini-Modelltest ausführen lassen; sonst nur zeigen.</a:t>
            </a:r>
            <a:endParaRPr lang="de-DE"/>
          </a:p>
          <a:p>
            <a:r>
              <a:rPr lang="de-DE"/>
              <a:t>Übergang: Zum Abschluss fassen wir die Data-Handling-Checkliste zusammen.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ns2:creationId val="1024086991"/>
      </p:ext>
    </p:extLst>
  </p:cSld>
  <p:clrMapOvr>
    <a:masterClrMapping/>
  </p:clrMapOvr>
</p:notes>
</file>

<file path=ppt/notesSlides/notesSlide3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Workflow als Checkliste sichern.</a:t>
            </a:r>
            <a:endParaRPr lang="de-DE"/>
          </a:p>
          <a:p>
            <a:r>
              <a:rPr lang="de-DE"/>
              <a:t>Sagen Sie: Diese Checkliste ist das wichtigste Arbeitswerkzeug der Sitzung. Sie können sie für fast jeden neuen Datensatz verwenden.</a:t>
            </a:r>
            <a:endParaRPr lang="de-DE"/>
          </a:p>
          <a:p>
            <a:r>
              <a:rPr lang="de-DE"/>
              <a:t>Gehen Sie die Fragen zügig durch. Betonen Sie: Ein sauberer Workflow ist wichtiger als ein einzelner perfekter Befehl.</a:t>
            </a:r>
            <a:endParaRPr lang="de-DE"/>
          </a:p>
          <a:p>
            <a:r>
              <a:rPr lang="de-DE"/>
              <a:t>Frage an die Gruppe: Welche Frage aus der Checkliste würden Sie in Zukunft als Erstes stellen?</a:t>
            </a:r>
            <a:endParaRPr lang="de-DE"/>
          </a:p>
          <a:p>
            <a:r>
              <a:rPr lang="de-DE"/>
              <a:t>Übergang: Zum Abschluss kommt die Hausaufgabe.</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ns2:creationId val="1024086991"/>
      </p:ext>
    </p:extLst>
  </p:cSld>
  <p:clrMapOvr>
    <a:masterClrMapping/>
  </p:clrMapOvr>
</p:notes>
</file>

<file path=ppt/notesSlides/notesSlide3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Ziel: Hausaufgabe erklären.</a:t>
            </a:r>
            <a:endParaRPr lang="de-DE"/>
          </a:p>
          <a:p>
            <a:r>
              <a:rPr lang="de-DE"/>
              <a:t>Sagen Sie: Die Hausaufgabe ist eine Wiederholung des heutigen Workflows. Sie arbeiten den Prozess einmal selbstständig durch und dokumentieren kurz, welche Entscheidungen Sie getroffen haben.</a:t>
            </a:r>
            <a:endParaRPr lang="de-DE"/>
          </a:p>
          <a:p>
            <a:r>
              <a:rPr lang="de-DE"/>
              <a:t>Betonen Sie: Es geht nicht um perfekte Syntax, sondern um nachvollziehbare Datenentscheidungen.</a:t>
            </a:r>
            <a:endParaRPr lang="de-DE"/>
          </a:p>
          <a:p>
            <a:r>
              <a:rPr lang="de-DE"/>
              <a:t>Hinweis: Wer nicht fertig wird, soll zumindest den Data Audit und die Reflexionsfragen bearbeiten.</a:t>
            </a:r>
            <a:endParaRPr lang="de-DE"/>
          </a:p>
          <a:p>
            <a:r>
              <a:rPr lang="de-DE"/>
              <a:t>Abschluss: Nächstes Mal können wir auf dieser Grundlage weitere Analysen aufbauen.</a:t>
            </a:r>
            <a:endParaRPr lang="de-D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94360" y="685800"/>
            <a:ext cx="2743200" cy="274320"/>
          </a:xfrm>
          <a:prstGeom prst="rect">
            <a:avLst/>
          </a:prstGeom>
          <a:noFill/>
          <a:ln/>
        </p:spPr>
        <p:txBody>
          <a:bodyPr wrap="square" lIns="0" tIns="0" rIns="0" bIns="0" rtlCol="0" anchor="ctr"/>
          <a:lstStyle/>
          <a:p>
            <a:pPr indent="0" marL="0">
              <a:buNone/>
            </a:pPr>
            <a:r>
              <a:rPr lang="en-US" sz="1400" b="1" dirty="0">
                <a:solidFill>
                  <a:srgbClr val="F26D3D"/>
                </a:solidFill>
                <a:latin typeface="Aptos" pitchFamily="34" charset="0"/>
                <a:ea typeface="Aptos" pitchFamily="34" charset="-122"/>
                <a:cs typeface="Aptos" pitchFamily="34" charset="-120"/>
              </a:rPr>
              <a:t>Vorlesung 5</a:t>
            </a:r>
            <a:endParaRPr lang="en-US" sz="1400" dirty="0"/>
          </a:p>
        </p:txBody>
      </p:sp>
      <p:sp>
        <p:nvSpPr>
          <p:cNvPr id="4" name="Text 2"/>
          <p:cNvSpPr/>
          <p:nvPr/>
        </p:nvSpPr>
        <p:spPr>
          <a:xfrm>
            <a:off x="594360" y="1051560"/>
            <a:ext cx="10607040" cy="685800"/>
          </a:xfrm>
          <a:prstGeom prst="rect">
            <a:avLst/>
          </a:prstGeom>
          <a:noFill/>
          <a:ln/>
        </p:spPr>
        <p:txBody>
          <a:bodyPr wrap="square" lIns="0" tIns="0" rIns="0" bIns="0" rtlCol="0" anchor="ctr"/>
          <a:lstStyle/>
          <a:p>
            <a:pPr indent="0" marL="0">
              <a:buNone/>
            </a:pPr>
            <a:r>
              <a:rPr lang="en-US" sz="3400" b="1" dirty="0">
                <a:solidFill>
                  <a:srgbClr val="313A45"/>
                </a:solidFill>
                <a:latin typeface="Aptos Display" pitchFamily="34" charset="0"/>
                <a:ea typeface="Aptos Display" pitchFamily="34" charset="-122"/>
                <a:cs typeface="Aptos Display" pitchFamily="34" charset="-120"/>
              </a:rPr>
              <a:t>Data Handling für Analyse und Modellierung</a:t>
            </a:r>
            <a:endParaRPr lang="en-US" sz="3400" dirty="0"/>
          </a:p>
        </p:txBody>
      </p:sp>
      <p:sp>
        <p:nvSpPr>
          <p:cNvPr id="5" name="Text 3"/>
          <p:cNvSpPr/>
          <p:nvPr/>
        </p:nvSpPr>
        <p:spPr>
          <a:xfrm>
            <a:off x="621792" y="1874520"/>
            <a:ext cx="9875520" cy="320040"/>
          </a:xfrm>
          <a:prstGeom prst="rect">
            <a:avLst/>
          </a:prstGeom>
          <a:noFill/>
          <a:ln/>
        </p:spPr>
        <p:txBody>
          <a:bodyPr wrap="square" lIns="0" tIns="0" rIns="0" bIns="0" rtlCol="0" anchor="ctr"/>
          <a:lstStyle/>
          <a:p>
            <a:pPr indent="0" marL="0">
              <a:buNone/>
            </a:pPr>
            <a:r>
              <a:rPr lang="en-US" sz="1800" dirty="0">
                <a:solidFill>
                  <a:srgbClr val="5F6B7A"/>
                </a:solidFill>
                <a:latin typeface="Aptos" pitchFamily="34" charset="0"/>
                <a:ea typeface="Aptos" pitchFamily="34" charset="-122"/>
                <a:cs typeface="Aptos" pitchFamily="34" charset="-120"/>
              </a:rPr>
              <a:t>Vom Rohdatensatz zur sauberen Feature-Matrix</a:t>
            </a:r>
            <a:endParaRPr lang="en-US" sz="1800" dirty="0"/>
          </a:p>
        </p:txBody>
      </p:sp>
      <p:sp>
        <p:nvSpPr>
          <p:cNvPr id="6" name="Shape 4"/>
          <p:cNvSpPr/>
          <p:nvPr/>
        </p:nvSpPr>
        <p:spPr>
          <a:xfrm>
            <a:off x="1005840" y="4206240"/>
            <a:ext cx="10241280" cy="777240"/>
          </a:xfrm>
          <a:prstGeom prst="roundRect">
            <a:avLst>
              <a:gd name="adj" fmla="val 9412"/>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7" name="Text 5"/>
          <p:cNvSpPr/>
          <p:nvPr/>
        </p:nvSpPr>
        <p:spPr>
          <a:xfrm>
            <a:off x="1170432" y="4315968"/>
            <a:ext cx="9912096" cy="557784"/>
          </a:xfrm>
          <a:prstGeom prst="rect">
            <a:avLst/>
          </a:prstGeom>
          <a:noFill/>
          <a:ln/>
        </p:spPr>
        <p:txBody>
          <a:bodyPr wrap="square" lIns="254" tIns="254" rIns="254" bIns="254" rtlCol="0" anchor="ctr">
            <a:normAutofit/>
          </a:bodyPr>
          <a:lstStyle/>
          <a:p>
            <a:pPr algn="ctr" indent="0" marL="0">
              <a:buNone/>
            </a:pPr>
            <a:r>
              <a:rPr lang="en-US" sz="1700" b="1" dirty="0">
                <a:solidFill>
                  <a:srgbClr val="F26D3D"/>
                </a:solidFill>
                <a:latin typeface="Aptos" pitchFamily="34" charset="0"/>
                <a:ea typeface="Aptos" pitchFamily="34" charset="-122"/>
                <a:cs typeface="Aptos" pitchFamily="34" charset="-120"/>
              </a:rPr>
              <a:t>Roter Faden: Wir machen Daten so lesbar, dass Analyse und Modelle darauf aufbauen können.</a:t>
            </a:r>
            <a:endParaRPr lang="en-US" sz="1700" dirty="0"/>
          </a:p>
        </p:txBody>
      </p:sp>
      <p:sp>
        <p:nvSpPr>
          <p:cNvPr id="8" name="Shape 6"/>
          <p:cNvSpPr/>
          <p:nvPr/>
        </p:nvSpPr>
        <p:spPr>
          <a:xfrm>
            <a:off x="320040" y="6473952"/>
            <a:ext cx="11612880" cy="0"/>
          </a:xfrm>
          <a:prstGeom prst="line">
            <a:avLst/>
          </a:prstGeom>
          <a:noFill/>
          <a:ln w="8890">
            <a:solidFill>
              <a:srgbClr val="CAD2DB"/>
            </a:solidFill>
            <a:prstDash val="solid"/>
          </a:ln>
        </p:spPr>
      </p:sp>
      <p:sp>
        <p:nvSpPr>
          <p:cNvPr id="9" name="Text 7"/>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10" name="Text 8"/>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11" name="Text 9"/>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Wo wir im Kurs stehen</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Von der Umgebung und ersten Modellen zur Datenbasis</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a:t>
            </a:r>
            <a:endParaRPr lang="en-US" sz="750" dirty="0"/>
          </a:p>
        </p:txBody>
      </p:sp>
      <p:sp>
        <p:nvSpPr>
          <p:cNvPr id="10" name="Text 7"/>
          <p:cNvSpPr/>
          <p:nvPr/>
        </p:nvSpPr>
        <p:spPr>
          <a:xfrm>
            <a:off x="731520" y="1325880"/>
            <a:ext cx="5486400" cy="411480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Lecture 2/3: VS Code, Jupyter, pandas und erste Datensätze</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Lecture 4: Regression als Vorhersage-Logik</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Lecture 5: Daten prüfen, bereinigen und für Modelle vorbereiten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Ziel: aus Rohdaten wird ein analyse- und modellierbarer Datensatz</a:t>
            </a:r>
            <a:endParaRPr lang="en-US" sz="1700" dirty="0"/>
          </a:p>
        </p:txBody>
      </p:sp>
      <p:sp>
        <p:nvSpPr>
          <p:cNvPr id="11" name="Shape 8"/>
          <p:cNvSpPr/>
          <p:nvPr/>
        </p:nvSpPr>
        <p:spPr>
          <a:xfrm>
            <a:off x="6492240" y="1234440"/>
            <a:ext cx="4892040" cy="3794760"/>
          </a:xfrm>
          <a:prstGeom prst="roundRect">
            <a:avLst>
              <a:gd name="adj" fmla="val 1928"/>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2" name="Image 0" descr="/mnt/data/lecture05_work/assets/data_handling_pipeline.png">    </p:cNvPr>
          <p:cNvPicPr>
            <a:picLocks noChangeAspect="1"/>
          </p:cNvPicPr>
          <p:nvPr/>
        </p:nvPicPr>
        <p:blipFill>
          <a:blip r:embed="rId1"/>
          <a:stretch>
            <a:fillRect/>
          </a:stretch>
        </p:blipFill>
        <p:spPr>
          <a:xfrm>
            <a:off x="6583680" y="1807369"/>
            <a:ext cx="4709160" cy="26489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Was am Ende klar sein soll</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Heute geht es um Arbeitslogik, nicht um auswendig gelernte Befehle</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3</a:t>
            </a:r>
            <a:endParaRPr lang="en-US" sz="750" dirty="0"/>
          </a:p>
        </p:txBody>
      </p:sp>
      <p:sp>
        <p:nvSpPr>
          <p:cNvPr id="10" name="Text 7"/>
          <p:cNvSpPr/>
          <p:nvPr/>
        </p:nvSpPr>
        <p:spPr>
          <a:xfrm>
            <a:off x="731520" y="1234440"/>
            <a:ext cx="5852160" cy="448056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Sie können einen CSV-Datensatz mit pandas einlesen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Sie können Struktur, Datentypen, fehlende Werte und Kategorien prüfen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Sie können einfache Bereinigungsschritte begründen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Sie können neue Variablen für Analyse und Modellierung erzeugen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Sie können Zielvariable Y und Prädiktoren X für ein Modell vorbereiten</a:t>
            </a:r>
            <a:endParaRPr lang="en-US" sz="1650" dirty="0"/>
          </a:p>
        </p:txBody>
      </p:sp>
      <p:sp>
        <p:nvSpPr>
          <p:cNvPr id="11" name="Shape 8"/>
          <p:cNvSpPr/>
          <p:nvPr/>
        </p:nvSpPr>
        <p:spPr>
          <a:xfrm>
            <a:off x="7040880" y="1828800"/>
            <a:ext cx="4297680" cy="1188720"/>
          </a:xfrm>
          <a:prstGeom prst="roundRect">
            <a:avLst>
              <a:gd name="adj" fmla="val 6154"/>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7205472" y="1938528"/>
            <a:ext cx="3968496" cy="969264"/>
          </a:xfrm>
          <a:prstGeom prst="rect">
            <a:avLst/>
          </a:prstGeom>
          <a:noFill/>
          <a:ln/>
        </p:spPr>
        <p:txBody>
          <a:bodyPr wrap="square" lIns="254" tIns="254" rIns="254" bIns="254" rtlCol="0" anchor="ctr">
            <a:normAutofit/>
          </a:bodyPr>
          <a:lstStyle/>
          <a:p>
            <a:pPr algn="ctr" indent="0" marL="0">
              <a:buNone/>
            </a:pPr>
            <a:r>
              <a:rPr lang="en-US" sz="1600" b="1" dirty="0">
                <a:solidFill>
                  <a:srgbClr val="2D9CDB"/>
                </a:solidFill>
                <a:latin typeface="Aptos" pitchFamily="34" charset="0"/>
                <a:ea typeface="Aptos" pitchFamily="34" charset="-122"/>
                <a:cs typeface="Aptos" pitchFamily="34" charset="-120"/>
              </a:rPr>
              <a:t>Kernidee: Data Handling ist die Übersetzung von Rohdaten in verlässliche Information.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txBody>
          <a:bodyPr/>
          <a:p/>
        </p:txBody>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Arbeitsmodus heute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Kurze Erklärung, dann direkt im Notebook ausprobieren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txBody>
          <a:bodyPr/>
          <a:p/>
        </p:txBody>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4</a:t>
            </a:r>
            <a:endParaRPr lang="en-US" sz="750" dirty="0"/>
          </a:p>
        </p:txBody>
      </p:sp>
      <p:sp>
        <p:nvSpPr>
          <p:cNvPr id="10" name="Text 7"/>
          <p:cNvSpPr/>
          <p:nvPr/>
        </p:nvSpPr>
        <p:spPr>
          <a:xfrm>
            <a:off x="731520" y="1280160"/>
            <a:ext cx="5303520" cy="4389120"/>
          </a:xfrm>
          <a:prstGeom prst="rect">
            <a:avLst/>
          </a:prstGeom>
          <a:noFill/>
          <a:ln/>
        </p:spPr>
        <p:txBody>
          <a:bodyPr wrap="square" lIns="254" tIns="254" rIns="254" bIns="254" rtlCol="0" anchor="ctr">
            <a:normAutofit/>
          </a:bodyPr>
          <a:lstStyle/>
          <a:p>
            <a:pPr indent="0" marL="0">
              <a:buNone/>
            </a:pPr>
            <a:r>
              <a:rPr lang="en-US" sz="1800" dirty="0">
                <a:solidFill>
                  <a:srgbClr val="313A45"/>
                </a:solidFill>
                <a:latin typeface="Aptos" pitchFamily="34" charset="0"/>
                <a:ea typeface="Aptos" pitchFamily="34" charset="-122"/>
                <a:cs typeface="Aptos" pitchFamily="34" charset="-120"/>
              </a:rPr>
              <a:t>• Kurze Konzeptfolie</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kleiner Blick in den Beispieldatensatz</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Notebook-Übung</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kurze Diskussion der Entscheidung</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nächster Data-Handling-Schritt</a:t>
            </a:r>
            <a:endParaRPr lang="en-US" sz="1800" dirty="0"/>
          </a:p>
        </p:txBody>
      </p:sp>
      <p:sp>
        <p:nvSpPr>
          <p:cNvPr id="11" name="Shape 8"/>
          <p:cNvSpPr/>
          <p:nvPr/>
        </p:nvSpPr>
        <p:spPr>
          <a:xfrm>
            <a:off x="6400800" y="1737360"/>
            <a:ext cx="4892040" cy="1143000"/>
          </a:xfrm>
          <a:prstGeom prst="roundRect">
            <a:avLst>
              <a:gd name="adj" fmla="val 6400"/>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txBody>
          <a:bodyPr/>
          <a:p/>
        </p:txBody>
      </p:sp>
      <p:sp>
        <p:nvSpPr>
          <p:cNvPr id="12" name="Text 9"/>
          <p:cNvSpPr/>
          <p:nvPr/>
        </p:nvSpPr>
        <p:spPr>
          <a:xfrm>
            <a:off x="6565392" y="1847088"/>
            <a:ext cx="4562856" cy="923544"/>
          </a:xfrm>
          <a:prstGeom prst="rect">
            <a:avLst/>
          </a:prstGeom>
          <a:noFill/>
          <a:ln/>
        </p:spPr>
        <p:txBody>
          <a:bodyPr wrap="square" lIns="254" tIns="254" rIns="254" bIns="254" rtlCol="0" anchor="ctr">
            <a:normAutofit/>
          </a:bodyPr>
          <a:lstStyle/>
          <a:p>
            <a:pPr algn="ctr" indent="0" marL="0">
              <a:buNone/>
            </a:pPr>
            <a:r>
              <a:rPr lang="en-US" sz="1600" b="1" dirty="0">
                <a:solidFill>
                  <a:srgbClr val="F26D3D"/>
                </a:solidFill>
                <a:latin typeface="Aptos" pitchFamily="34" charset="0"/>
                <a:ea typeface="Aptos" pitchFamily="34" charset="-122"/>
                <a:cs typeface="Aptos" pitchFamily="34" charset="-120"/>
              </a:rPr>
              <a:t>Sie müssen nicht jede Zeile sofort perfekt verstehen. Wichtig ist, die Denkfolge mitzunehmen.</a:t>
            </a:r>
            <a:endParaRPr lang="en-US" sz="1600" dirty="0"/>
          </a:p>
        </p:txBody>
      </p:sp>
      <p:sp>
        <p:nvSpPr>
          <p:cNvPr id="13" name="Shape 10"/>
          <p:cNvSpPr/>
          <p:nvPr/>
        </p:nvSpPr>
        <p:spPr>
          <a:xfrm>
            <a:off x="6400800" y="3246120"/>
            <a:ext cx="4892040" cy="1188720"/>
          </a:xfrm>
          <a:prstGeom prst="rect">
            <a:avLst/>
          </a:prstGeom>
          <a:solidFill>
            <a:srgbClr val="1F2937"/>
          </a:solidFill>
          <a:ln w="12700">
            <a:solidFill>
              <a:srgbClr val="1F2937"/>
            </a:solidFill>
            <a:prstDash val="solid"/>
          </a:ln>
        </p:spPr>
        <p:txBody>
          <a:bodyPr/>
          <a:p/>
        </p:txBody>
      </p:sp>
      <p:sp>
        <p:nvSpPr>
          <p:cNvPr id="14" name="Text 11"/>
          <p:cNvSpPr/>
          <p:nvPr/>
        </p:nvSpPr>
        <p:spPr>
          <a:xfrm>
            <a:off x="6565392" y="3374136"/>
            <a:ext cx="4562856" cy="932688"/>
          </a:xfrm>
          <a:prstGeom prst="rect">
            <a:avLst/>
          </a:prstGeom>
          <a:noFill/>
          <a:ln/>
        </p:spPr>
        <p:txBody>
          <a:bodyPr wrap="square" lIns="0" tIns="0" rIns="0" bIns="0" rtlCol="0" anchor="ctr">
            <a:normAutofit/>
          </a:bodyPr>
          <a:lstStyle/>
          <a:p>
            <a:r>
              <a:t>Heute wechseln wir häufig zwischen Folie und Notebook.</a:t>
            </a:r>
          </a:p>
          <a:p>
            <a:r>
              <a:t>Bitte lassen Sie VS Code geöffnet.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Gemeinsamer Environment-Check</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Bevor wir mit Daten arbeiten, prüfen wir kurz die Umgebung</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5</a:t>
            </a:r>
            <a:endParaRPr lang="en-US" sz="750" dirty="0"/>
          </a:p>
        </p:txBody>
      </p:sp>
      <p:sp>
        <p:nvSpPr>
          <p:cNvPr id="10" name="Text 7"/>
          <p:cNvSpPr/>
          <p:nvPr/>
        </p:nvSpPr>
        <p:spPr>
          <a:xfrm>
            <a:off x="731520" y="1325880"/>
            <a:ext cx="5212080" cy="429768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Projektordner in VS Code öffnen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richtiges Conda-Environment auswählen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Notebook-Kernel prüfen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`pandas` importieren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Datendatei im gleichen Ordner sichtbar machen</a:t>
            </a:r>
            <a:endParaRPr lang="en-US" sz="1700" dirty="0"/>
          </a:p>
        </p:txBody>
      </p:sp>
      <p:sp>
        <p:nvSpPr>
          <p:cNvPr id="11" name="Shape 8"/>
          <p:cNvSpPr/>
          <p:nvPr/>
        </p:nvSpPr>
        <p:spPr>
          <a:xfrm>
            <a:off x="6400800" y="1417320"/>
            <a:ext cx="4800600" cy="2331720"/>
          </a:xfrm>
          <a:prstGeom prst="rect">
            <a:avLst/>
          </a:prstGeom>
          <a:solidFill>
            <a:srgbClr val="1F2937"/>
          </a:solidFill>
          <a:ln w="12700">
            <a:solidFill>
              <a:srgbClr val="1F2937"/>
            </a:solidFill>
            <a:prstDash val="solid"/>
          </a:ln>
        </p:spPr>
      </p:sp>
      <p:sp>
        <p:nvSpPr>
          <p:cNvPr id="12" name="Text 9"/>
          <p:cNvSpPr/>
          <p:nvPr/>
        </p:nvSpPr>
        <p:spPr>
          <a:xfrm>
            <a:off x="6565392" y="1545336"/>
            <a:ext cx="4471416" cy="2075688"/>
          </a:xfrm>
          <a:prstGeom prst="rect">
            <a:avLst/>
          </a:prstGeom>
          <a:noFill/>
          <a:ln/>
        </p:spPr>
        <p:txBody>
          <a:bodyPr wrap="square" lIns="0" tIns="0" rIns="0" bIns="0" rtlCol="0" anchor="ctr">
            <a:normAutofit/>
          </a:bodyPr>
          <a:lstStyle/>
          <a:p>
            <a:pPr indent="0" marL="0">
              <a:buNone/>
            </a:pPr>
            <a:r>
              <a:rPr lang="en-US" sz="1600" dirty="0">
                <a:solidFill>
                  <a:srgbClr val="F8FAFC"/>
                </a:solidFill>
                <a:latin typeface="Consolas" pitchFamily="34" charset="0"/>
                <a:ea typeface="Consolas" pitchFamily="34" charset="-122"/>
                <a:cs typeface="Consolas" pitchFamily="34" charset="-120"/>
              </a:rPr>
              <a:t>import sys</a:t>
            </a:r>
            <a:endParaRPr lang="en-US" sz="1600" dirty="0"/>
          </a:p>
          <a:p>
            <a:pPr indent="0" marL="0">
              <a:buNone/>
            </a:pPr>
            <a:r>
              <a:rPr lang="en-US" sz="1600" dirty="0">
                <a:solidFill>
                  <a:srgbClr val="F8FAFC"/>
                </a:solidFill>
                <a:latin typeface="Consolas" pitchFamily="34" charset="0"/>
                <a:ea typeface="Consolas" pitchFamily="34" charset="-122"/>
                <a:cs typeface="Consolas" pitchFamily="34" charset="-120"/>
              </a:rPr>
              <a:t>import pandas as pd</a:t>
            </a:r>
            <a:endParaRPr lang="en-US" sz="1600" dirty="0"/>
          </a:p>
          <a:p>
            <a:pPr indent="0" marL="0">
              <a:buNone/>
            </a:pPr>
            <a:endParaRPr lang="en-US" sz="1600" dirty="0"/>
          </a:p>
          <a:p>
            <a:pPr indent="0" marL="0">
              <a:buNone/>
            </a:pPr>
            <a:r>
              <a:rPr lang="en-US" sz="1600" dirty="0">
                <a:solidFill>
                  <a:srgbClr val="F8FAFC"/>
                </a:solidFill>
                <a:latin typeface="Consolas" pitchFamily="34" charset="0"/>
                <a:ea typeface="Consolas" pitchFamily="34" charset="-122"/>
                <a:cs typeface="Consolas" pitchFamily="34" charset="-120"/>
              </a:rPr>
              <a:t>print(sys.executable)</a:t>
            </a:r>
            <a:endParaRPr lang="en-US" sz="1600" dirty="0"/>
          </a:p>
          <a:p>
            <a:pPr indent="0" marL="0">
              <a:buNone/>
            </a:pPr>
            <a:r>
              <a:rPr lang="en-US" sz="1600" dirty="0">
                <a:solidFill>
                  <a:srgbClr val="F8FAFC"/>
                </a:solidFill>
                <a:latin typeface="Consolas" pitchFamily="34" charset="0"/>
                <a:ea typeface="Consolas" pitchFamily="34" charset="-122"/>
                <a:cs typeface="Consolas" pitchFamily="34" charset="-120"/>
              </a:rPr>
              <a:t>print(pd.__version__)</a:t>
            </a:r>
            <a:endParaRPr lang="en-US" sz="1600" dirty="0"/>
          </a:p>
        </p:txBody>
      </p:sp>
      <p:sp>
        <p:nvSpPr>
          <p:cNvPr id="13" name="Shape 10"/>
          <p:cNvSpPr/>
          <p:nvPr/>
        </p:nvSpPr>
        <p:spPr>
          <a:xfrm>
            <a:off x="6400800" y="4069080"/>
            <a:ext cx="4800600" cy="777240"/>
          </a:xfrm>
          <a:prstGeom prst="roundRect">
            <a:avLst>
              <a:gd name="adj" fmla="val 9412"/>
            </a:avLst>
          </a:prstGeom>
          <a:solidFill>
            <a:srgbClr val="EAF5EA"/>
          </a:solidFill>
          <a:ln w="15240">
            <a:solidFill>
              <a:srgbClr val="2E7D32"/>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565392" y="4178808"/>
            <a:ext cx="4471416" cy="557784"/>
          </a:xfrm>
          <a:prstGeom prst="rect">
            <a:avLst/>
          </a:prstGeom>
          <a:noFill/>
          <a:ln/>
        </p:spPr>
        <p:txBody>
          <a:bodyPr wrap="square" lIns="254" tIns="254" rIns="254" bIns="254" rtlCol="0" anchor="ctr">
            <a:normAutofit/>
          </a:bodyPr>
          <a:lstStyle/>
          <a:p>
            <a:pPr algn="ctr" indent="0" marL="0">
              <a:buNone/>
            </a:pPr>
            <a:r>
              <a:rPr lang="en-US" sz="1400" b="1" dirty="0">
                <a:solidFill>
                  <a:srgbClr val="2E7D32"/>
                </a:solidFill>
                <a:latin typeface="Aptos" pitchFamily="34" charset="0"/>
                <a:ea typeface="Aptos" pitchFamily="34" charset="-122"/>
                <a:cs typeface="Aptos" pitchFamily="34" charset="-120"/>
              </a:rPr>
              <a:t>Minimaler Erfolg: Notebook läuft, pandas importiert, CSV-Datei ist erreichbar.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1</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Öffnen Sie Notebook 1: Data Audit und Cleaning</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6</a:t>
            </a:r>
            <a:endParaRPr lang="en-US" sz="750" dirty="0"/>
          </a:p>
        </p:txBody>
      </p:sp>
      <p:sp>
        <p:nvSpPr>
          <p:cNvPr id="10" name="Text 7"/>
          <p:cNvSpPr/>
          <p:nvPr/>
        </p:nvSpPr>
        <p:spPr>
          <a:xfrm>
            <a:off x="731520" y="1234440"/>
            <a:ext cx="3657600" cy="164592"/>
          </a:xfrm>
          <a:prstGeom prst="rect">
            <a:avLst/>
          </a:prstGeom>
          <a:noFill/>
          <a:ln/>
        </p:spPr>
        <p:txBody>
          <a:bodyPr wrap="square" lIns="0" tIns="0" rIns="0" bIns="0" rtlCol="0" anchor="ctr"/>
          <a:lstStyle/>
          <a:p>
            <a:pPr indent="0" marL="0">
              <a:buNone/>
            </a:pPr>
            <a:r>
              <a:rPr lang="en-US" sz="800" b="1" dirty="0">
                <a:solidFill>
                  <a:srgbClr val="F26D3D"/>
                </a:solidFill>
                <a:latin typeface="Aptos" pitchFamily="34" charset="0"/>
                <a:ea typeface="Aptos" pitchFamily="34" charset="-122"/>
                <a:cs typeface="Aptos" pitchFamily="34" charset="-120"/>
              </a:rPr>
              <a:t>JETZT IN VS CODE</a:t>
            </a:r>
            <a:endParaRPr lang="en-US" sz="800" dirty="0"/>
          </a:p>
        </p:txBody>
      </p:sp>
      <p:sp>
        <p:nvSpPr>
          <p:cNvPr id="11" name="Text 8"/>
          <p:cNvSpPr/>
          <p:nvPr/>
        </p:nvSpPr>
        <p:spPr>
          <a:xfrm>
            <a:off x="731520" y="1508760"/>
            <a:ext cx="5852160" cy="448056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Notebook öffnen: `lecture_05_notebook_01_data_audit_cleaning.ipynb`</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Kernel prüfen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erste Import-Zelle ausführen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CSV-Datei `lecture_05_employee_survey_raw.csv` laden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kurz prüfen: `df.head()` zeigt Daten</a:t>
            </a:r>
            <a:endParaRPr lang="en-US" sz="1650" dirty="0"/>
          </a:p>
        </p:txBody>
      </p:sp>
      <p:sp>
        <p:nvSpPr>
          <p:cNvPr id="12" name="Shape 9"/>
          <p:cNvSpPr/>
          <p:nvPr/>
        </p:nvSpPr>
        <p:spPr>
          <a:xfrm>
            <a:off x="6812280" y="1965960"/>
            <a:ext cx="4206240" cy="1325880"/>
          </a:xfrm>
          <a:prstGeom prst="rect">
            <a:avLst/>
          </a:prstGeom>
          <a:solidFill>
            <a:srgbClr val="1F2937"/>
          </a:solidFill>
          <a:ln w="12700">
            <a:solidFill>
              <a:srgbClr val="1F2937"/>
            </a:solidFill>
            <a:prstDash val="solid"/>
          </a:ln>
        </p:spPr>
      </p:sp>
      <p:sp>
        <p:nvSpPr>
          <p:cNvPr id="13" name="Text 10"/>
          <p:cNvSpPr/>
          <p:nvPr/>
        </p:nvSpPr>
        <p:spPr>
          <a:xfrm>
            <a:off x="6976872" y="2093976"/>
            <a:ext cx="3877056" cy="1069848"/>
          </a:xfrm>
          <a:prstGeom prst="rect">
            <a:avLst/>
          </a:prstGeom>
          <a:noFill/>
          <a:ln/>
        </p:spPr>
        <p:txBody>
          <a:bodyPr wrap="square" lIns="0" tIns="0" rIns="0" bIns="0" rtlCol="0" anchor="ctr">
            <a:normAutofit/>
          </a:bodyPr>
          <a:lstStyle/>
          <a:p>
            <a:pPr indent="0" marL="0">
              <a:buNone/>
            </a:pPr>
            <a:r>
              <a:rPr lang="en-US" sz="1500" dirty="0">
                <a:solidFill>
                  <a:srgbClr val="F8FAFC"/>
                </a:solidFill>
                <a:latin typeface="Consolas" pitchFamily="34" charset="0"/>
                <a:ea typeface="Consolas" pitchFamily="34" charset="-122"/>
                <a:cs typeface="Consolas" pitchFamily="34" charset="-120"/>
              </a:rPr>
              <a:t>df = pd.read_csv('lecture_05_employee_survey_raw.csv')</a:t>
            </a:r>
            <a:endParaRPr lang="en-US" sz="1500" dirty="0"/>
          </a:p>
          <a:p>
            <a:pPr indent="0" marL="0">
              <a:buNone/>
            </a:pPr>
            <a:r>
              <a:rPr lang="en-US" sz="1500" dirty="0">
                <a:solidFill>
                  <a:srgbClr val="F8FAFC"/>
                </a:solidFill>
                <a:latin typeface="Consolas" pitchFamily="34" charset="0"/>
                <a:ea typeface="Consolas" pitchFamily="34" charset="-122"/>
                <a:cs typeface="Consolas" pitchFamily="34" charset="-120"/>
              </a:rPr>
              <a:t>df.head()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Warum Data Handling so wichtig ist</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Rohdaten sind fast nie sofort analysebereit</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7</a:t>
            </a:r>
            <a:endParaRPr lang="en-US" sz="750" dirty="0"/>
          </a:p>
        </p:txBody>
      </p:sp>
      <p:sp>
        <p:nvSpPr>
          <p:cNvPr id="10" name="Text 7"/>
          <p:cNvSpPr/>
          <p:nvPr/>
        </p:nvSpPr>
        <p:spPr>
          <a:xfrm>
            <a:off x="731520" y="1234440"/>
            <a:ext cx="5577840" cy="448056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Daten enthalten oft fehlende, doppelte oder unplausible Werte</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Kategorien sind nicht immer einheitlich geschrieben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Skalen und Variablen müssen interpretiert werden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Modelle brauchen numerische, verlässliche Inputs</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gute Analysen beginnen mit guten Datenentscheidungen</a:t>
            </a:r>
            <a:endParaRPr lang="en-US" sz="1650" dirty="0"/>
          </a:p>
        </p:txBody>
      </p:sp>
      <p:sp>
        <p:nvSpPr>
          <p:cNvPr id="11" name="Shape 8"/>
          <p:cNvSpPr/>
          <p:nvPr/>
        </p:nvSpPr>
        <p:spPr>
          <a:xfrm>
            <a:off x="6629400" y="1828800"/>
            <a:ext cx="4480560" cy="1097280"/>
          </a:xfrm>
          <a:prstGeom prst="roundRect">
            <a:avLst>
              <a:gd name="adj" fmla="val 6667"/>
            </a:avLst>
          </a:prstGeom>
          <a:solidFill>
            <a:srgbClr val="FDEDEC"/>
          </a:solidFill>
          <a:ln w="15240">
            <a:solidFill>
              <a:srgbClr val="C0392B"/>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793992" y="1938528"/>
            <a:ext cx="4151376" cy="877824"/>
          </a:xfrm>
          <a:prstGeom prst="rect">
            <a:avLst/>
          </a:prstGeom>
          <a:noFill/>
          <a:ln/>
        </p:spPr>
        <p:txBody>
          <a:bodyPr wrap="square" lIns="254" tIns="254" rIns="254" bIns="254" rtlCol="0" anchor="ctr">
            <a:normAutofit/>
          </a:bodyPr>
          <a:lstStyle/>
          <a:p>
            <a:pPr algn="ctr" indent="0" marL="0">
              <a:buNone/>
            </a:pPr>
            <a:r>
              <a:rPr lang="en-US" sz="1500" b="1" dirty="0">
                <a:solidFill>
                  <a:srgbClr val="C0392B"/>
                </a:solidFill>
                <a:latin typeface="Aptos" pitchFamily="34" charset="0"/>
                <a:ea typeface="Aptos" pitchFamily="34" charset="-122"/>
                <a:cs typeface="Aptos" pitchFamily="34" charset="-120"/>
              </a:rPr>
              <a:t>Garbage in - garbage out: Ein elegantes Modell rettet keinen ungeprüften Datensatz.</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Die Data-Handling-Pipeline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Vom Rohdatensatz zur Feature-Matrix</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8</a:t>
            </a:r>
            <a:endParaRPr lang="en-US" sz="750" dirty="0"/>
          </a:p>
        </p:txBody>
      </p:sp>
      <p:sp>
        <p:nvSpPr>
          <p:cNvPr id="10" name="Shape 7"/>
          <p:cNvSpPr/>
          <p:nvPr/>
        </p:nvSpPr>
        <p:spPr>
          <a:xfrm>
            <a:off x="914400" y="1143000"/>
            <a:ext cx="10287000" cy="4389120"/>
          </a:xfrm>
          <a:prstGeom prst="roundRect">
            <a:avLst>
              <a:gd name="adj" fmla="val 1667"/>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1" name="Image 0" descr="/mnt/data/lecture05_work/assets/data_handling_pipeline.png">    </p:cNvPr>
          <p:cNvPicPr>
            <a:picLocks noChangeAspect="1"/>
          </p:cNvPicPr>
          <p:nvPr/>
        </p:nvPicPr>
        <p:blipFill>
          <a:blip r:embed="rId1"/>
          <a:stretch>
            <a:fillRect/>
          </a:stretch>
        </p:blipFill>
        <p:spPr>
          <a:xfrm>
            <a:off x="2319020" y="1234440"/>
            <a:ext cx="7477760" cy="4206240"/>
          </a:xfrm>
          <a:prstGeom prst="rect">
            <a:avLst/>
          </a:prstGeom>
        </p:spPr>
      </p:pic>
      <p:sp>
        <p:nvSpPr>
          <p:cNvPr id="12" name="Shape 8"/>
          <p:cNvSpPr/>
          <p:nvPr/>
        </p:nvSpPr>
        <p:spPr>
          <a:xfrm>
            <a:off x="2743200" y="5486400"/>
            <a:ext cx="6675120" cy="502920"/>
          </a:xfrm>
          <a:prstGeom prst="roundRect">
            <a:avLst>
              <a:gd name="adj" fmla="val 14545"/>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3" name="Text 9"/>
          <p:cNvSpPr/>
          <p:nvPr/>
        </p:nvSpPr>
        <p:spPr>
          <a:xfrm>
            <a:off x="2907792" y="5596128"/>
            <a:ext cx="6345936" cy="283464"/>
          </a:xfrm>
          <a:prstGeom prst="rect">
            <a:avLst/>
          </a:prstGeom>
          <a:noFill/>
          <a:ln/>
        </p:spPr>
        <p:txBody>
          <a:bodyPr wrap="square" lIns="254" tIns="254" rIns="254" bIns="254" rtlCol="0" anchor="ctr">
            <a:normAutofit/>
          </a:bodyPr>
          <a:lstStyle/>
          <a:p>
            <a:pPr algn="ctr" indent="0" marL="0">
              <a:buNone/>
            </a:pPr>
            <a:r>
              <a:rPr lang="en-US" sz="1300" b="1" dirty="0">
                <a:solidFill>
                  <a:srgbClr val="F26D3D"/>
                </a:solidFill>
                <a:latin typeface="Aptos" pitchFamily="34" charset="0"/>
                <a:ea typeface="Aptos" pitchFamily="34" charset="-122"/>
                <a:cs typeface="Aptos" pitchFamily="34" charset="-120"/>
              </a:rPr>
              <a:t>Heute bewegen wir uns Schritt für Schritt von links nach rechts.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Unser Beispieldatensatz</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Fiktive Mitarbeiterbefragung mit eingebauten Datenproblemen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9</a:t>
            </a:r>
            <a:endParaRPr lang="en-US" sz="750" dirty="0"/>
          </a:p>
        </p:txBody>
      </p:sp>
      <p:sp>
        <p:nvSpPr>
          <p:cNvPr id="10" name="Text 7"/>
          <p:cNvSpPr/>
          <p:nvPr/>
        </p:nvSpPr>
        <p:spPr>
          <a:xfrm>
            <a:off x="640080" y="1234440"/>
            <a:ext cx="5760720" cy="4480560"/>
          </a:xfrm>
          <a:prstGeom prst="rect">
            <a:avLst/>
          </a:prstGeom>
          <a:noFill/>
          <a:ln/>
        </p:spPr>
        <p:txBody>
          <a:bodyPr wrap="square" lIns="254" tIns="254" rIns="254" bIns="254" rtlCol="0" anchor="ctr">
            <a:normAutofit/>
          </a:bodyPr>
          <a:lstStyle/>
          <a:p>
            <a:pPr indent="0" marL="0">
              <a:buNone/>
            </a:pPr>
            <a:r>
              <a:rPr lang="en-US" sz="1550" dirty="0">
                <a:solidFill>
                  <a:srgbClr val="313A45"/>
                </a:solidFill>
                <a:latin typeface="Aptos" pitchFamily="34" charset="0"/>
                <a:ea typeface="Aptos" pitchFamily="34" charset="-122"/>
                <a:cs typeface="Aptos" pitchFamily="34" charset="-120"/>
              </a:rPr>
              <a:t>• Eine Zeile = eine befragte Person</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Spalten = Merkmale, Skalen und Kontextvariablen</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Zielvariable für spätere Übungen: `satisfaction`</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mögliche Prädiktoren: Stress, Motivation, Autonomie, Support, Schlaf, Abteilung</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eingebaute Probleme: Missing Values, Tippfehler, Ausreißer, doppelte ID</a:t>
            </a:r>
            <a:endParaRPr lang="en-US" sz="1550" dirty="0"/>
          </a:p>
        </p:txBody>
      </p:sp>
      <p:sp>
        <p:nvSpPr>
          <p:cNvPr id="11" name="Shape 8"/>
          <p:cNvSpPr/>
          <p:nvPr/>
        </p:nvSpPr>
        <p:spPr>
          <a:xfrm>
            <a:off x="6446520" y="1234440"/>
            <a:ext cx="5074920" cy="3383280"/>
          </a:xfrm>
          <a:prstGeom prst="roundRect">
            <a:avLst>
              <a:gd name="adj" fmla="val 2162"/>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2" name="Image 0" descr="/mnt/data/lecture05_work/assets/raw_head_table.png">    </p:cNvPr>
          <p:cNvPicPr>
            <a:picLocks noChangeAspect="1"/>
          </p:cNvPicPr>
          <p:nvPr/>
        </p:nvPicPr>
        <p:blipFill>
          <a:blip r:embed="rId1"/>
          <a:stretch>
            <a:fillRect/>
          </a:stretch>
        </p:blipFill>
        <p:spPr>
          <a:xfrm>
            <a:off x="6537960" y="1974850"/>
            <a:ext cx="4892040" cy="1902460"/>
          </a:xfrm>
          <a:prstGeom prst="rect">
            <a:avLst/>
          </a:prstGeom>
        </p:spPr>
      </p:pic>
      <p:sp>
        <p:nvSpPr>
          <p:cNvPr id="13" name="Shape 9"/>
          <p:cNvSpPr/>
          <p:nvPr/>
        </p:nvSpPr>
        <p:spPr>
          <a:xfrm>
            <a:off x="6446520" y="4892040"/>
            <a:ext cx="5074920" cy="777240"/>
          </a:xfrm>
          <a:prstGeom prst="roundRect">
            <a:avLst>
              <a:gd name="adj" fmla="val 9412"/>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4" name="Text 10"/>
          <p:cNvSpPr/>
          <p:nvPr/>
        </p:nvSpPr>
        <p:spPr>
          <a:xfrm>
            <a:off x="6611112" y="5001768"/>
            <a:ext cx="4745736" cy="557784"/>
          </a:xfrm>
          <a:prstGeom prst="rect">
            <a:avLst/>
          </a:prstGeom>
          <a:noFill/>
          <a:ln/>
        </p:spPr>
        <p:txBody>
          <a:bodyPr wrap="square" lIns="254" tIns="254" rIns="254" bIns="254" rtlCol="0" anchor="ctr">
            <a:normAutofit/>
          </a:bodyPr>
          <a:lstStyle/>
          <a:p>
            <a:pPr algn="ctr" indent="0" marL="0">
              <a:buNone/>
            </a:pPr>
            <a:r>
              <a:rPr lang="en-US" sz="1400" b="1" dirty="0">
                <a:solidFill>
                  <a:srgbClr val="2D9CDB"/>
                </a:solidFill>
                <a:latin typeface="Aptos" pitchFamily="34" charset="0"/>
                <a:ea typeface="Aptos" pitchFamily="34" charset="-122"/>
                <a:cs typeface="Aptos" pitchFamily="34" charset="-120"/>
              </a:rPr>
              <a:t>Interaktion: Welche Spalten würden Sie als Erstes prüfen?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Fälle, Variablen und Werte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Die einfache Tabellenlogik hinter fast jedem DataFrame</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10</a:t>
            </a:r>
            <a:endParaRPr lang="en-US" sz="750" dirty="0"/>
          </a:p>
        </p:txBody>
      </p:sp>
      <p:sp>
        <p:nvSpPr>
          <p:cNvPr id="10" name="Text 7"/>
          <p:cNvSpPr/>
          <p:nvPr/>
        </p:nvSpPr>
        <p:spPr>
          <a:xfrm>
            <a:off x="822960" y="1325880"/>
            <a:ext cx="5394960" cy="411480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Zeile = Fall / Beobachtung / Person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Spalte = Variable / Merkmal</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Zelle = konkreter Wert einer Person auf einer Variable</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Index = technische Zeilenbeschriftung in pandas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DataFrame = tabellarische Datenstruktur in pandas</a:t>
            </a:r>
            <a:endParaRPr lang="en-US" sz="1700" dirty="0"/>
          </a:p>
        </p:txBody>
      </p:sp>
      <p:sp>
        <p:nvSpPr>
          <p:cNvPr id="11" name="Shape 8"/>
          <p:cNvSpPr/>
          <p:nvPr/>
        </p:nvSpPr>
        <p:spPr>
          <a:xfrm>
            <a:off x="6492240" y="1920240"/>
            <a:ext cx="4663440" cy="1325880"/>
          </a:xfrm>
          <a:prstGeom prst="rect">
            <a:avLst/>
          </a:prstGeom>
          <a:solidFill>
            <a:srgbClr val="1F2937"/>
          </a:solidFill>
          <a:ln w="12700">
            <a:solidFill>
              <a:srgbClr val="1F2937"/>
            </a:solidFill>
            <a:prstDash val="solid"/>
          </a:ln>
        </p:spPr>
      </p:sp>
      <p:sp>
        <p:nvSpPr>
          <p:cNvPr id="12" name="Text 9"/>
          <p:cNvSpPr/>
          <p:nvPr/>
        </p:nvSpPr>
        <p:spPr>
          <a:xfrm>
            <a:off x="6656832" y="2048256"/>
            <a:ext cx="4334256" cy="1069848"/>
          </a:xfrm>
          <a:prstGeom prst="rect">
            <a:avLst/>
          </a:prstGeom>
          <a:noFill/>
          <a:ln/>
        </p:spPr>
        <p:txBody>
          <a:bodyPr wrap="square" lIns="0" tIns="0" rIns="0" bIns="0" rtlCol="0" anchor="ctr">
            <a:normAutofit/>
          </a:bodyPr>
          <a:lstStyle/>
          <a:p>
            <a:pPr indent="0" marL="0">
              <a:buNone/>
            </a:pPr>
            <a:r>
              <a:rPr lang="en-US" sz="1400" dirty="0">
                <a:solidFill>
                  <a:srgbClr val="F8FAFC"/>
                </a:solidFill>
                <a:latin typeface="Consolas" pitchFamily="34" charset="0"/>
                <a:ea typeface="Consolas" pitchFamily="34" charset="-122"/>
                <a:cs typeface="Consolas" pitchFamily="34" charset="-120"/>
              </a:rPr>
              <a:t>df.loc[0, 'satisfaction']</a:t>
            </a:r>
            <a:endParaRPr lang="en-US" sz="1400" dirty="0"/>
          </a:p>
          <a:p>
            <a:pPr indent="0" marL="0">
              <a:buNone/>
            </a:pPr>
            <a:r>
              <a:rPr lang="en-US" sz="1400" dirty="0">
                <a:solidFill>
                  <a:srgbClr val="F8FAFC"/>
                </a:solidFill>
                <a:latin typeface="Consolas" pitchFamily="34" charset="0"/>
                <a:ea typeface="Consolas" pitchFamily="34" charset="-122"/>
                <a:cs typeface="Consolas" pitchFamily="34" charset="-120"/>
              </a:rPr>
              <a:t># Wert der ersten Person in der Spalte satisfaction</a:t>
            </a:r>
            <a:endParaRPr lang="en-US" sz="1400" dirty="0"/>
          </a:p>
        </p:txBody>
      </p:sp>
      <p:sp>
        <p:nvSpPr>
          <p:cNvPr id="13" name="Shape 10"/>
          <p:cNvSpPr/>
          <p:nvPr/>
        </p:nvSpPr>
        <p:spPr>
          <a:xfrm>
            <a:off x="6492240" y="3657600"/>
            <a:ext cx="4663440" cy="777240"/>
          </a:xfrm>
          <a:prstGeom prst="roundRect">
            <a:avLst>
              <a:gd name="adj" fmla="val 9412"/>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656832" y="3767328"/>
            <a:ext cx="4334256" cy="557784"/>
          </a:xfrm>
          <a:prstGeom prst="rect">
            <a:avLst/>
          </a:prstGeom>
          <a:noFill/>
          <a:ln/>
        </p:spPr>
        <p:txBody>
          <a:bodyPr wrap="square" lIns="254" tIns="254" rIns="254" bIns="254" rtlCol="0" anchor="ctr">
            <a:normAutofit/>
          </a:bodyPr>
          <a:lstStyle/>
          <a:p>
            <a:pPr algn="ctr" indent="0" marL="0">
              <a:buNone/>
            </a:pPr>
            <a:r>
              <a:rPr lang="en-US" sz="1400" b="1" dirty="0">
                <a:solidFill>
                  <a:srgbClr val="F26D3D"/>
                </a:solidFill>
                <a:latin typeface="Aptos" pitchFamily="34" charset="0"/>
                <a:ea typeface="Aptos" pitchFamily="34" charset="-122"/>
                <a:cs typeface="Aptos" pitchFamily="34" charset="-120"/>
              </a:rPr>
              <a:t>Diese einfache Logik bleibt gleich - auch wenn später Modelle komplexer werden.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2</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Rohdaten einlesen und einen ersten Blick gewinnen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11</a:t>
            </a:r>
            <a:endParaRPr lang="en-US" sz="750" dirty="0"/>
          </a:p>
        </p:txBody>
      </p:sp>
      <p:sp>
        <p:nvSpPr>
          <p:cNvPr id="10" name="Text 7"/>
          <p:cNvSpPr/>
          <p:nvPr/>
        </p:nvSpPr>
        <p:spPr>
          <a:xfrm>
            <a:off x="731520" y="1325880"/>
            <a:ext cx="5486400" cy="4206240"/>
          </a:xfrm>
          <a:prstGeom prst="rect">
            <a:avLst/>
          </a:prstGeom>
          <a:noFill/>
          <a:ln/>
        </p:spPr>
        <p:txBody>
          <a:bodyPr wrap="square" lIns="254" tIns="254" rIns="254" bIns="254" rtlCol="0" anchor="ctr">
            <a:normAutofit/>
          </a:bodyPr>
          <a:lstStyle/>
          <a:p>
            <a:pPr indent="0" marL="0">
              <a:buNone/>
            </a:pPr>
            <a:r>
              <a:rPr lang="en-US" sz="1680" dirty="0">
                <a:solidFill>
                  <a:srgbClr val="313A45"/>
                </a:solidFill>
                <a:latin typeface="Aptos" pitchFamily="34" charset="0"/>
                <a:ea typeface="Aptos" pitchFamily="34" charset="-122"/>
                <a:cs typeface="Aptos" pitchFamily="34" charset="-120"/>
              </a:rPr>
              <a:t>• `pd.read_csv()` lädt die Datei</a:t>
            </a:r>
            <a:endParaRPr lang="en-US" sz="1680" dirty="0"/>
          </a:p>
          <a:p>
            <a:pPr indent="0" marL="0">
              <a:buNone/>
            </a:pPr>
            <a:r>
              <a:rPr lang="en-US" sz="1680" dirty="0">
                <a:solidFill>
                  <a:srgbClr val="313A45"/>
                </a:solidFill>
                <a:latin typeface="Aptos" pitchFamily="34" charset="0"/>
                <a:ea typeface="Aptos" pitchFamily="34" charset="-122"/>
                <a:cs typeface="Aptos" pitchFamily="34" charset="-120"/>
              </a:rPr>
              <a:t>• `df.head()` zeigt die ersten Zeilen</a:t>
            </a:r>
            <a:endParaRPr lang="en-US" sz="1680" dirty="0"/>
          </a:p>
          <a:p>
            <a:pPr indent="0" marL="0">
              <a:buNone/>
            </a:pPr>
            <a:r>
              <a:rPr lang="en-US" sz="1680" dirty="0">
                <a:solidFill>
                  <a:srgbClr val="313A45"/>
                </a:solidFill>
                <a:latin typeface="Aptos" pitchFamily="34" charset="0"/>
                <a:ea typeface="Aptos" pitchFamily="34" charset="-122"/>
                <a:cs typeface="Aptos" pitchFamily="34" charset="-120"/>
              </a:rPr>
              <a:t>• `df.shape` zeigt Zeilen und Spalten</a:t>
            </a:r>
            <a:endParaRPr lang="en-US" sz="1680" dirty="0"/>
          </a:p>
          <a:p>
            <a:pPr indent="0" marL="0">
              <a:buNone/>
            </a:pPr>
            <a:r>
              <a:rPr lang="en-US" sz="1680" dirty="0">
                <a:solidFill>
                  <a:srgbClr val="313A45"/>
                </a:solidFill>
                <a:latin typeface="Aptos" pitchFamily="34" charset="0"/>
                <a:ea typeface="Aptos" pitchFamily="34" charset="-122"/>
                <a:cs typeface="Aptos" pitchFamily="34" charset="-120"/>
              </a:rPr>
              <a:t>• `df.columns` zeigt die Spaltennamen</a:t>
            </a:r>
            <a:endParaRPr lang="en-US" sz="1680" dirty="0"/>
          </a:p>
          <a:p>
            <a:pPr indent="0" marL="0">
              <a:buNone/>
            </a:pPr>
            <a:r>
              <a:rPr lang="en-US" sz="1680" dirty="0">
                <a:solidFill>
                  <a:srgbClr val="313A45"/>
                </a:solidFill>
                <a:latin typeface="Aptos" pitchFamily="34" charset="0"/>
                <a:ea typeface="Aptos" pitchFamily="34" charset="-122"/>
                <a:cs typeface="Aptos" pitchFamily="34" charset="-120"/>
              </a:rPr>
              <a:t>• erste Frage: Sieht das so aus, wie wir erwarten?</a:t>
            </a:r>
            <a:endParaRPr lang="en-US" sz="1680" dirty="0"/>
          </a:p>
        </p:txBody>
      </p:sp>
      <p:sp>
        <p:nvSpPr>
          <p:cNvPr id="11" name="Shape 8"/>
          <p:cNvSpPr/>
          <p:nvPr/>
        </p:nvSpPr>
        <p:spPr>
          <a:xfrm>
            <a:off x="6492240" y="1554480"/>
            <a:ext cx="4754880" cy="2194560"/>
          </a:xfrm>
          <a:prstGeom prst="rect">
            <a:avLst/>
          </a:prstGeom>
          <a:solidFill>
            <a:srgbClr val="1F2937"/>
          </a:solidFill>
          <a:ln w="12700">
            <a:solidFill>
              <a:srgbClr val="1F2937"/>
            </a:solidFill>
            <a:prstDash val="solid"/>
          </a:ln>
        </p:spPr>
      </p:sp>
      <p:sp>
        <p:nvSpPr>
          <p:cNvPr id="12" name="Text 9"/>
          <p:cNvSpPr/>
          <p:nvPr/>
        </p:nvSpPr>
        <p:spPr>
          <a:xfrm>
            <a:off x="6656832" y="1682496"/>
            <a:ext cx="4425696" cy="1938528"/>
          </a:xfrm>
          <a:prstGeom prst="rect">
            <a:avLst/>
          </a:prstGeom>
          <a:noFill/>
          <a:ln/>
        </p:spPr>
        <p:txBody>
          <a:bodyPr wrap="square" lIns="0" tIns="0" rIns="0" bIns="0" rtlCol="0" anchor="ctr">
            <a:normAutofit/>
          </a:bodyPr>
          <a:lstStyle/>
          <a:p>
            <a:pPr indent="0" marL="0">
              <a:buNone/>
            </a:pPr>
            <a:r>
              <a:rPr lang="en-US" sz="1400" dirty="0">
                <a:solidFill>
                  <a:srgbClr val="F8FAFC"/>
                </a:solidFill>
                <a:latin typeface="Consolas" pitchFamily="34" charset="0"/>
                <a:ea typeface="Consolas" pitchFamily="34" charset="-122"/>
                <a:cs typeface="Consolas" pitchFamily="34" charset="-120"/>
              </a:rPr>
              <a:t>df = pd.read_csv('lecture_05_employee_survey_raw.csv')</a:t>
            </a:r>
            <a:endParaRPr lang="en-US" sz="1400" dirty="0"/>
          </a:p>
          <a:p>
            <a:pPr indent="0" marL="0">
              <a:buNone/>
            </a:pPr>
            <a:endParaRPr lang="en-US" sz="1400" dirty="0"/>
          </a:p>
          <a:p>
            <a:pPr indent="0" marL="0">
              <a:buNone/>
            </a:pPr>
            <a:r>
              <a:rPr lang="en-US" sz="1400" dirty="0">
                <a:solidFill>
                  <a:srgbClr val="F8FAFC"/>
                </a:solidFill>
                <a:latin typeface="Consolas" pitchFamily="34" charset="0"/>
                <a:ea typeface="Consolas" pitchFamily="34" charset="-122"/>
                <a:cs typeface="Consolas" pitchFamily="34" charset="-120"/>
              </a:rPr>
              <a:t>df.head()</a:t>
            </a:r>
            <a:endParaRPr lang="en-US" sz="1400" dirty="0"/>
          </a:p>
          <a:p>
            <a:pPr indent="0" marL="0">
              <a:buNone/>
            </a:pPr>
            <a:r>
              <a:rPr lang="en-US" sz="1400" dirty="0">
                <a:solidFill>
                  <a:srgbClr val="F8FAFC"/>
                </a:solidFill>
                <a:latin typeface="Consolas" pitchFamily="34" charset="0"/>
                <a:ea typeface="Consolas" pitchFamily="34" charset="-122"/>
                <a:cs typeface="Consolas" pitchFamily="34" charset="-120"/>
              </a:rPr>
              <a:t>df.shape</a:t>
            </a:r>
            <a:endParaRPr lang="en-US" sz="1400" dirty="0"/>
          </a:p>
          <a:p>
            <a:pPr indent="0" marL="0">
              <a:buNone/>
            </a:pPr>
            <a:r>
              <a:rPr lang="en-US" sz="1400" dirty="0">
                <a:solidFill>
                  <a:srgbClr val="F8FAFC"/>
                </a:solidFill>
                <a:latin typeface="Consolas" pitchFamily="34" charset="0"/>
                <a:ea typeface="Consolas" pitchFamily="34" charset="-122"/>
                <a:cs typeface="Consolas" pitchFamily="34" charset="-120"/>
              </a:rPr>
              <a:t>df.columns.tolist()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Fünf Befehle für fast jeden neuen Datensatz</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Diese Checks sind der Anfang eines Data Audit</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12</a:t>
            </a:r>
            <a:endParaRPr lang="en-US" sz="750" dirty="0"/>
          </a:p>
        </p:txBody>
      </p:sp>
      <p:sp>
        <p:nvSpPr>
          <p:cNvPr id="10" name="Shape 7"/>
          <p:cNvSpPr/>
          <p:nvPr/>
        </p:nvSpPr>
        <p:spPr>
          <a:xfrm>
            <a:off x="731520" y="1325880"/>
            <a:ext cx="5715000" cy="3337560"/>
          </a:xfrm>
          <a:prstGeom prst="rect">
            <a:avLst/>
          </a:prstGeom>
          <a:solidFill>
            <a:srgbClr val="1F2937"/>
          </a:solidFill>
          <a:ln w="12700">
            <a:solidFill>
              <a:srgbClr val="1F2937"/>
            </a:solidFill>
            <a:prstDash val="solid"/>
          </a:ln>
        </p:spPr>
      </p:sp>
      <p:sp>
        <p:nvSpPr>
          <p:cNvPr id="11" name="Text 8"/>
          <p:cNvSpPr/>
          <p:nvPr/>
        </p:nvSpPr>
        <p:spPr>
          <a:xfrm>
            <a:off x="896112" y="1453896"/>
            <a:ext cx="5385816" cy="308152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df.head()                 # erste Zeilen</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df.shape                  # Zeilen, Spalten</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df.info()                 # Datentypen, fehlende Werte</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df.describe()             # Summary Statistics</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df['department'].value_counts(dropna=False)</a:t>
            </a:r>
            <a:endParaRPr lang="en-US" sz="1350" dirty="0"/>
          </a:p>
        </p:txBody>
      </p:sp>
      <p:sp>
        <p:nvSpPr>
          <p:cNvPr id="12" name="Text 9"/>
          <p:cNvSpPr/>
          <p:nvPr/>
        </p:nvSpPr>
        <p:spPr>
          <a:xfrm>
            <a:off x="6903720" y="1508760"/>
            <a:ext cx="3931920" cy="2560320"/>
          </a:xfrm>
          <a:prstGeom prst="rect">
            <a:avLst/>
          </a:prstGeom>
          <a:noFill/>
          <a:ln/>
        </p:spPr>
        <p:txBody>
          <a:bodyPr wrap="square" lIns="254" tIns="254" rIns="254" bIns="254" rtlCol="0" anchor="ctr">
            <a:normAutofit/>
          </a:bodyPr>
          <a:lstStyle/>
          <a:p>
            <a:pPr indent="0" marL="0">
              <a:buNone/>
            </a:pPr>
            <a:r>
              <a:rPr lang="en-US" sz="1800" dirty="0">
                <a:solidFill>
                  <a:srgbClr val="313A45"/>
                </a:solidFill>
                <a:latin typeface="Aptos" pitchFamily="34" charset="0"/>
                <a:ea typeface="Aptos" pitchFamily="34" charset="-122"/>
                <a:cs typeface="Aptos" pitchFamily="34" charset="-120"/>
              </a:rPr>
              <a:t>• erst Struktur prüfen</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dann Inhalte prüfen</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dann Entscheidungen treffen</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nicht sofort modellieren</a:t>
            </a:r>
            <a:endParaRPr lang="en-US" sz="1800" dirty="0"/>
          </a:p>
        </p:txBody>
      </p:sp>
      <p:sp>
        <p:nvSpPr>
          <p:cNvPr id="13" name="Shape 10"/>
          <p:cNvSpPr/>
          <p:nvPr/>
        </p:nvSpPr>
        <p:spPr>
          <a:xfrm>
            <a:off x="6720840" y="4297680"/>
            <a:ext cx="4480560" cy="731520"/>
          </a:xfrm>
          <a:prstGeom prst="roundRect">
            <a:avLst>
              <a:gd name="adj" fmla="val 10000"/>
            </a:avLst>
          </a:prstGeom>
          <a:solidFill>
            <a:srgbClr val="EAF5EA"/>
          </a:solidFill>
          <a:ln w="15240">
            <a:solidFill>
              <a:srgbClr val="2E7D32"/>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885432" y="4407408"/>
            <a:ext cx="4151376" cy="512064"/>
          </a:xfrm>
          <a:prstGeom prst="rect">
            <a:avLst/>
          </a:prstGeom>
          <a:noFill/>
          <a:ln/>
        </p:spPr>
        <p:txBody>
          <a:bodyPr wrap="square" lIns="254" tIns="254" rIns="254" bIns="254" rtlCol="0" anchor="ctr">
            <a:normAutofit/>
          </a:bodyPr>
          <a:lstStyle/>
          <a:p>
            <a:pPr algn="ctr" indent="0" marL="0">
              <a:buNone/>
            </a:pPr>
            <a:r>
              <a:rPr lang="en-US" sz="1500" b="1" dirty="0">
                <a:solidFill>
                  <a:srgbClr val="2E7D32"/>
                </a:solidFill>
                <a:latin typeface="Aptos" pitchFamily="34" charset="0"/>
                <a:ea typeface="Aptos" pitchFamily="34" charset="-122"/>
                <a:cs typeface="Aptos" pitchFamily="34" charset="-120"/>
              </a:rPr>
              <a:t>Merksatz: Erst auditieren, dann analysieren.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Data Audit: vier Diagnosefragen</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Bevor wir bereinigen, müssen wir verstehen, was im Datensatz passiert</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13</a:t>
            </a:r>
            <a:endParaRPr lang="en-US" sz="750" dirty="0"/>
          </a:p>
        </p:txBody>
      </p:sp>
      <p:sp>
        <p:nvSpPr>
          <p:cNvPr id="10" name="Text 7"/>
          <p:cNvSpPr/>
          <p:nvPr/>
        </p:nvSpPr>
        <p:spPr>
          <a:xfrm>
            <a:off x="731520" y="1325880"/>
            <a:ext cx="5852160" cy="4023360"/>
          </a:xfrm>
          <a:prstGeom prst="rect">
            <a:avLst/>
          </a:prstGeom>
          <a:noFill/>
          <a:ln/>
        </p:spPr>
        <p:txBody>
          <a:bodyPr wrap="square" lIns="254" tIns="254" rIns="254" bIns="254" rtlCol="0" anchor="ctr">
            <a:normAutofit/>
          </a:bodyPr>
          <a:lstStyle/>
          <a:p>
            <a:pPr indent="0" marL="0">
              <a:buNone/>
            </a:pPr>
            <a:r>
              <a:rPr lang="en-US" sz="1800" dirty="0">
                <a:solidFill>
                  <a:srgbClr val="313A45"/>
                </a:solidFill>
                <a:latin typeface="Aptos" pitchFamily="34" charset="0"/>
                <a:ea typeface="Aptos" pitchFamily="34" charset="-122"/>
                <a:cs typeface="Aptos" pitchFamily="34" charset="-120"/>
              </a:rPr>
              <a:t>• Welche Werte fehlen?</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Welche Variablen haben den falschen Datentyp?</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Welche Kategorien sind uneinheitlich geschrieben?</a:t>
            </a:r>
            <a:endParaRPr lang="en-US" sz="1800" dirty="0"/>
          </a:p>
          <a:p>
            <a:pPr indent="0" marL="0">
              <a:buNone/>
            </a:pPr>
            <a:r>
              <a:rPr lang="en-US" sz="1800" dirty="0">
                <a:solidFill>
                  <a:srgbClr val="313A45"/>
                </a:solidFill>
                <a:latin typeface="Aptos" pitchFamily="34" charset="0"/>
                <a:ea typeface="Aptos" pitchFamily="34" charset="-122"/>
                <a:cs typeface="Aptos" pitchFamily="34" charset="-120"/>
              </a:rPr>
              <a:t>• Welche Werte sind außerhalb plausibler Bereiche?</a:t>
            </a:r>
            <a:endParaRPr lang="en-US" sz="1800" dirty="0"/>
          </a:p>
        </p:txBody>
      </p:sp>
      <p:sp>
        <p:nvSpPr>
          <p:cNvPr id="11" name="Shape 8"/>
          <p:cNvSpPr/>
          <p:nvPr/>
        </p:nvSpPr>
        <p:spPr>
          <a:xfrm>
            <a:off x="6629400" y="1645920"/>
            <a:ext cx="4526280" cy="1005840"/>
          </a:xfrm>
          <a:prstGeom prst="roundRect">
            <a:avLst>
              <a:gd name="adj" fmla="val 7273"/>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793992" y="1755648"/>
            <a:ext cx="4197096" cy="786384"/>
          </a:xfrm>
          <a:prstGeom prst="rect">
            <a:avLst/>
          </a:prstGeom>
          <a:noFill/>
          <a:ln/>
        </p:spPr>
        <p:txBody>
          <a:bodyPr wrap="square" lIns="254" tIns="254" rIns="254" bIns="254" rtlCol="0" anchor="ctr">
            <a:normAutofit/>
          </a:bodyPr>
          <a:lstStyle/>
          <a:p>
            <a:pPr algn="ctr" indent="0" marL="0">
              <a:buNone/>
            </a:pPr>
            <a:r>
              <a:rPr lang="en-US" sz="1500" b="1" dirty="0">
                <a:solidFill>
                  <a:srgbClr val="2D9CDB"/>
                </a:solidFill>
                <a:latin typeface="Aptos" pitchFamily="34" charset="0"/>
                <a:ea typeface="Aptos" pitchFamily="34" charset="-122"/>
                <a:cs typeface="Aptos" pitchFamily="34" charset="-120"/>
              </a:rPr>
              <a:t>Interaktion: Welche dieser Fragen ist bei Befragungsdaten besonders kritisch?</a:t>
            </a:r>
            <a:endParaRPr lang="en-US" sz="1500" dirty="0"/>
          </a:p>
        </p:txBody>
      </p:sp>
      <p:sp>
        <p:nvSpPr>
          <p:cNvPr id="13" name="Shape 10"/>
          <p:cNvSpPr/>
          <p:nvPr/>
        </p:nvSpPr>
        <p:spPr>
          <a:xfrm>
            <a:off x="6629400" y="2971800"/>
            <a:ext cx="4526280" cy="2331720"/>
          </a:xfrm>
          <a:prstGeom prst="roundRect">
            <a:avLst>
              <a:gd name="adj" fmla="val 3137"/>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4" name="Image 0" descr="/mnt/data/lecture05_work/assets/missing_values.png">    </p:cNvPr>
          <p:cNvPicPr>
            <a:picLocks noChangeAspect="1"/>
          </p:cNvPicPr>
          <p:nvPr/>
        </p:nvPicPr>
        <p:blipFill>
          <a:blip r:embed="rId1"/>
          <a:stretch>
            <a:fillRect/>
          </a:stretch>
        </p:blipFill>
        <p:spPr>
          <a:xfrm>
            <a:off x="6982460" y="3063240"/>
            <a:ext cx="3820160" cy="2148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Fehlende Werte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Missing Values sind Information und Problem zugleich</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14</a:t>
            </a:r>
            <a:endParaRPr lang="en-US" sz="750" dirty="0"/>
          </a:p>
        </p:txBody>
      </p:sp>
      <p:sp>
        <p:nvSpPr>
          <p:cNvPr id="10" name="Text 7"/>
          <p:cNvSpPr/>
          <p:nvPr/>
        </p:nvSpPr>
        <p:spPr>
          <a:xfrm>
            <a:off x="731520" y="1325880"/>
            <a:ext cx="5669280" cy="438912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Fehlt ein Wert zufällig oder systematisch?</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Fehlen einzelne Werte oder ganze Variablen?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Ist Löschen vertretbar?</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Ist Ersetzen sinnvoll?</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Muss die Entscheidung dokumentiert werden?</a:t>
            </a:r>
            <a:endParaRPr lang="en-US" sz="1700" dirty="0"/>
          </a:p>
        </p:txBody>
      </p:sp>
      <p:sp>
        <p:nvSpPr>
          <p:cNvPr id="11" name="Shape 8"/>
          <p:cNvSpPr/>
          <p:nvPr/>
        </p:nvSpPr>
        <p:spPr>
          <a:xfrm>
            <a:off x="6629400" y="1828800"/>
            <a:ext cx="4526280" cy="1097280"/>
          </a:xfrm>
          <a:prstGeom prst="roundRect">
            <a:avLst>
              <a:gd name="adj" fmla="val 6667"/>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793992" y="1938528"/>
            <a:ext cx="4197096" cy="877824"/>
          </a:xfrm>
          <a:prstGeom prst="rect">
            <a:avLst/>
          </a:prstGeom>
          <a:noFill/>
          <a:ln/>
        </p:spPr>
        <p:txBody>
          <a:bodyPr wrap="square" lIns="254" tIns="254" rIns="254" bIns="254" rtlCol="0" anchor="ctr">
            <a:normAutofit/>
          </a:bodyPr>
          <a:lstStyle/>
          <a:p>
            <a:pPr algn="ctr" indent="0" marL="0">
              <a:buNone/>
            </a:pPr>
            <a:r>
              <a:rPr lang="en-US" sz="1500" b="1" dirty="0">
                <a:solidFill>
                  <a:srgbClr val="F26D3D"/>
                </a:solidFill>
                <a:latin typeface="Aptos" pitchFamily="34" charset="0"/>
                <a:ea typeface="Aptos" pitchFamily="34" charset="-122"/>
                <a:cs typeface="Aptos" pitchFamily="34" charset="-120"/>
              </a:rPr>
              <a:t>Wichtig: Missing Values nicht automatisch „wegmachen“. Erst überlegen, dann entscheiden.</a:t>
            </a:r>
            <a:endParaRPr lang="en-US" sz="1500" dirty="0"/>
          </a:p>
        </p:txBody>
      </p:sp>
      <p:sp>
        <p:nvSpPr>
          <p:cNvPr id="13" name="Shape 10"/>
          <p:cNvSpPr/>
          <p:nvPr/>
        </p:nvSpPr>
        <p:spPr>
          <a:xfrm>
            <a:off x="6629400" y="3657600"/>
            <a:ext cx="4526280" cy="685800"/>
          </a:xfrm>
          <a:prstGeom prst="rect">
            <a:avLst/>
          </a:prstGeom>
          <a:solidFill>
            <a:srgbClr val="1F2937"/>
          </a:solidFill>
          <a:ln w="12700">
            <a:solidFill>
              <a:srgbClr val="1F2937"/>
            </a:solidFill>
            <a:prstDash val="solid"/>
          </a:ln>
        </p:spPr>
      </p:sp>
      <p:sp>
        <p:nvSpPr>
          <p:cNvPr id="14" name="Text 11"/>
          <p:cNvSpPr/>
          <p:nvPr/>
        </p:nvSpPr>
        <p:spPr>
          <a:xfrm>
            <a:off x="6793992" y="3785616"/>
            <a:ext cx="4197096" cy="429768"/>
          </a:xfrm>
          <a:prstGeom prst="rect">
            <a:avLst/>
          </a:prstGeom>
          <a:noFill/>
          <a:ln/>
        </p:spPr>
        <p:txBody>
          <a:bodyPr wrap="square" lIns="0" tIns="0" rIns="0" bIns="0" rtlCol="0" anchor="ctr">
            <a:normAutofit/>
          </a:bodyPr>
          <a:lstStyle/>
          <a:p>
            <a:pPr indent="0" marL="0">
              <a:buNone/>
            </a:pPr>
            <a:r>
              <a:rPr lang="en-US" sz="1300" dirty="0">
                <a:solidFill>
                  <a:srgbClr val="F8FAFC"/>
                </a:solidFill>
                <a:latin typeface="Consolas" pitchFamily="34" charset="0"/>
                <a:ea typeface="Consolas" pitchFamily="34" charset="-122"/>
                <a:cs typeface="Consolas" pitchFamily="34" charset="-120"/>
              </a:rPr>
              <a:t>df.isna().sum().sort_values(ascending=False)</a:t>
            </a:r>
            <a:endParaRPr lang="en-US" sz="1300" dirty="0"/>
          </a:p>
        </p:txBody>
      </p:sp>
      <p:pic>
        <p:nvPicPr>
          <p:cNvPr id="15" name="Picture 14" descr="slide14_missing_compact.png"/>
          <p:cNvPicPr>
            <a:picLocks noChangeAspect="1"/>
          </p:cNvPicPr>
          <p:nvPr/>
        </p:nvPicPr>
        <p:blipFill>
          <a:blip r:embed="rId3"/>
          <a:stretch>
            <a:fillRect/>
          </a:stretch>
        </p:blipFill>
        <p:spPr>
          <a:xfrm>
            <a:off x="6629400" y="4434840"/>
            <a:ext cx="4526280" cy="215512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Fehlende Werte im Überblick</a:t>
            </a:r>
          </a:p>
        </p:txBody>
      </p:sp>
      <p:pic>
        <p:nvPicPr>
          <p:cNvPr id="3" name="Picture 2" descr="slide14_missing.png"/>
          <p:cNvPicPr>
            <a:picLocks noChangeAspect="1"/>
          </p:cNvPicPr>
          <p:nvPr/>
        </p:nvPicPr>
        <p:blipFill>
          <a:blip r:embed="rId2"/>
          <a:stretch>
            <a:fillRect/>
          </a:stretch>
        </p:blipFill>
        <p:spPr>
          <a:xfrm>
            <a:off x="457200" y="1005840"/>
            <a:ext cx="11277600" cy="5502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3</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Fehlende Werte und Kategorien sichtbar machen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15</a:t>
            </a:r>
            <a:endParaRPr lang="en-US" sz="750" dirty="0"/>
          </a:p>
        </p:txBody>
      </p:sp>
      <p:sp>
        <p:nvSpPr>
          <p:cNvPr id="10" name="Text 7"/>
          <p:cNvSpPr/>
          <p:nvPr/>
        </p:nvSpPr>
        <p:spPr>
          <a:xfrm>
            <a:off x="731520" y="1325880"/>
            <a:ext cx="5486400" cy="420624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Missingness-Tabelle erzeugen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`value_counts()` für Kategorien nutzen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auffällige Schreibweisen markieren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noch nichts vorschnell löschen</a:t>
            </a:r>
            <a:endParaRPr lang="en-US" sz="1700" dirty="0"/>
          </a:p>
        </p:txBody>
      </p:sp>
      <p:sp>
        <p:nvSpPr>
          <p:cNvPr id="11" name="Shape 8"/>
          <p:cNvSpPr/>
          <p:nvPr/>
        </p:nvSpPr>
        <p:spPr>
          <a:xfrm>
            <a:off x="6446520" y="1508760"/>
            <a:ext cx="4800600" cy="2377440"/>
          </a:xfrm>
          <a:prstGeom prst="rect">
            <a:avLst/>
          </a:prstGeom>
          <a:solidFill>
            <a:srgbClr val="1F2937"/>
          </a:solidFill>
          <a:ln w="12700">
            <a:solidFill>
              <a:srgbClr val="1F2937"/>
            </a:solidFill>
            <a:prstDash val="solid"/>
          </a:ln>
        </p:spPr>
      </p:sp>
      <p:sp>
        <p:nvSpPr>
          <p:cNvPr id="12" name="Text 9"/>
          <p:cNvSpPr/>
          <p:nvPr/>
        </p:nvSpPr>
        <p:spPr>
          <a:xfrm>
            <a:off x="6611112" y="1636776"/>
            <a:ext cx="4471416" cy="2121408"/>
          </a:xfrm>
          <a:prstGeom prst="rect">
            <a:avLst/>
          </a:prstGeom>
          <a:noFill/>
          <a:ln/>
        </p:spPr>
        <p:txBody>
          <a:bodyPr wrap="square" lIns="0" tIns="0" rIns="0" bIns="0" rtlCol="0" anchor="ctr">
            <a:normAutofit/>
          </a:bodyPr>
          <a:lstStyle/>
          <a:p>
            <a:pPr indent="0" marL="0">
              <a:buNone/>
            </a:pPr>
            <a:r>
              <a:rPr lang="en-US" sz="1320" dirty="0">
                <a:solidFill>
                  <a:srgbClr val="F8FAFC"/>
                </a:solidFill>
                <a:latin typeface="Consolas" pitchFamily="34" charset="0"/>
                <a:ea typeface="Consolas" pitchFamily="34" charset="-122"/>
                <a:cs typeface="Consolas" pitchFamily="34" charset="-120"/>
              </a:rPr>
              <a:t>df.isna().sum().sort_values(ascending=False)</a:t>
            </a:r>
            <a:endParaRPr lang="en-US" sz="1320" dirty="0"/>
          </a:p>
          <a:p>
            <a:pPr indent="0" marL="0">
              <a:buNone/>
            </a:pP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df['department'].value_counts(dropna=False)</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df['gender'].value_counts(dropna=False)</a:t>
            </a:r>
            <a:endParaRPr lang="en-US" sz="1320" dirty="0"/>
          </a:p>
        </p:txBody>
      </p:sp>
      <p:sp>
        <p:nvSpPr>
          <p:cNvPr id="13" name="Shape 10"/>
          <p:cNvSpPr/>
          <p:nvPr/>
        </p:nvSpPr>
        <p:spPr>
          <a:xfrm>
            <a:off x="6446520" y="4251960"/>
            <a:ext cx="4800600" cy="731520"/>
          </a:xfrm>
          <a:prstGeom prst="roundRect">
            <a:avLst>
              <a:gd name="adj" fmla="val 10000"/>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611112" y="4361688"/>
            <a:ext cx="4471416" cy="512064"/>
          </a:xfrm>
          <a:prstGeom prst="rect">
            <a:avLst/>
          </a:prstGeom>
          <a:noFill/>
          <a:ln/>
        </p:spPr>
        <p:txBody>
          <a:bodyPr wrap="square" lIns="254" tIns="254" rIns="254" bIns="254" rtlCol="0" anchor="ctr">
            <a:normAutofit/>
          </a:bodyPr>
          <a:lstStyle/>
          <a:p>
            <a:pPr algn="ctr" indent="0" marL="0">
              <a:buNone/>
            </a:pPr>
            <a:r>
              <a:rPr lang="en-US" sz="1350" b="1" dirty="0">
                <a:solidFill>
                  <a:srgbClr val="2D9CDB"/>
                </a:solidFill>
                <a:latin typeface="Aptos" pitchFamily="34" charset="0"/>
                <a:ea typeface="Aptos" pitchFamily="34" charset="-122"/>
                <a:cs typeface="Aptos" pitchFamily="34" charset="-120"/>
              </a:rPr>
              <a:t>Aufgabe: Welche Kategorie ist eigentlich dieselbe, aber anders geschrieben?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Kategorien bereinigen</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Gleiche Bedeutung, unterschiedliche Schreibweise</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16</a:t>
            </a:r>
            <a:endParaRPr lang="en-US" sz="750" dirty="0"/>
          </a:p>
        </p:txBody>
      </p:sp>
      <p:sp>
        <p:nvSpPr>
          <p:cNvPr id="10" name="Text 7"/>
          <p:cNvSpPr/>
          <p:nvPr/>
        </p:nvSpPr>
        <p:spPr>
          <a:xfrm>
            <a:off x="731520" y="1325880"/>
            <a:ext cx="5303520" cy="429768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Leerzeichen entfernen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Groß- und Kleinschreibung vereinheitlichen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Abkürzungen auflösen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fehlende Kategorien markieren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Entscheidungen im Code nachvollziehbar machen</a:t>
            </a:r>
            <a:endParaRPr lang="en-US" sz="1700" dirty="0"/>
          </a:p>
        </p:txBody>
      </p:sp>
      <p:sp>
        <p:nvSpPr>
          <p:cNvPr id="11" name="Shape 8"/>
          <p:cNvSpPr/>
          <p:nvPr/>
        </p:nvSpPr>
        <p:spPr>
          <a:xfrm>
            <a:off x="6400800" y="1508760"/>
            <a:ext cx="4754880" cy="1874520"/>
          </a:xfrm>
          <a:prstGeom prst="rect">
            <a:avLst/>
          </a:prstGeom>
          <a:solidFill>
            <a:srgbClr val="1F2937"/>
          </a:solidFill>
          <a:ln w="12700">
            <a:solidFill>
              <a:srgbClr val="1F2937"/>
            </a:solidFill>
            <a:prstDash val="solid"/>
          </a:ln>
        </p:spPr>
      </p:sp>
      <p:sp>
        <p:nvSpPr>
          <p:cNvPr id="12" name="Text 9"/>
          <p:cNvSpPr/>
          <p:nvPr/>
        </p:nvSpPr>
        <p:spPr>
          <a:xfrm>
            <a:off x="6565392" y="1636776"/>
            <a:ext cx="4425696" cy="161848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clean['department'] = (</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clean['department']</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.astype('string')</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.str.strip()</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.str.lower()</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a:t>
            </a:r>
            <a:endParaRPr lang="en-US" sz="1350" dirty="0"/>
          </a:p>
        </p:txBody>
      </p:sp>
      <p:sp>
        <p:nvSpPr>
          <p:cNvPr id="13" name="Shape 10"/>
          <p:cNvSpPr/>
          <p:nvPr/>
        </p:nvSpPr>
        <p:spPr>
          <a:xfrm>
            <a:off x="6400800" y="3794760"/>
            <a:ext cx="4754880" cy="822960"/>
          </a:xfrm>
          <a:prstGeom prst="roundRect">
            <a:avLst>
              <a:gd name="adj" fmla="val 8889"/>
            </a:avLst>
          </a:prstGeom>
          <a:solidFill>
            <a:srgbClr val="EAF5EA"/>
          </a:solidFill>
          <a:ln w="15240">
            <a:solidFill>
              <a:srgbClr val="2E7D32"/>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565392" y="3904488"/>
            <a:ext cx="4425696" cy="603504"/>
          </a:xfrm>
          <a:prstGeom prst="rect">
            <a:avLst/>
          </a:prstGeom>
          <a:noFill/>
          <a:ln/>
        </p:spPr>
        <p:txBody>
          <a:bodyPr wrap="square" lIns="254" tIns="254" rIns="254" bIns="254" rtlCol="0" anchor="ctr">
            <a:normAutofit/>
          </a:bodyPr>
          <a:lstStyle/>
          <a:p>
            <a:pPr algn="ctr" indent="0" marL="0">
              <a:buNone/>
            </a:pPr>
            <a:r>
              <a:rPr lang="en-US" sz="1400" b="1" dirty="0">
                <a:solidFill>
                  <a:srgbClr val="2E7D32"/>
                </a:solidFill>
                <a:latin typeface="Aptos" pitchFamily="34" charset="0"/>
                <a:ea typeface="Aptos" pitchFamily="34" charset="-122"/>
                <a:cs typeface="Aptos" pitchFamily="34" charset="-120"/>
              </a:rPr>
              <a:t>Kategorien sind nicht nur Text. Sie werden später oft zu Modellvariablen.</a:t>
            </a:r>
            <a:endParaRPr lang="en-US" sz="14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Vorher / Nachher: department</a:t>
            </a:r>
          </a:p>
        </p:txBody>
      </p:sp>
      <p:pic>
        <p:nvPicPr>
          <p:cNvPr id="3" name="Picture 2" descr="slide16_categories.png"/>
          <p:cNvPicPr>
            <a:picLocks noChangeAspect="1"/>
          </p:cNvPicPr>
          <p:nvPr/>
        </p:nvPicPr>
        <p:blipFill>
          <a:blip r:embed="rId2"/>
          <a:stretch>
            <a:fillRect/>
          </a:stretch>
        </p:blipFill>
        <p:spPr>
          <a:xfrm>
            <a:off x="457200" y="1005840"/>
            <a:ext cx="11277600" cy="43832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Doppelte Fälle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Eine ID sollte in unserem Beispiel nur einmal vorkommen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17</a:t>
            </a:r>
            <a:endParaRPr lang="en-US" sz="750" dirty="0"/>
          </a:p>
        </p:txBody>
      </p:sp>
      <p:sp>
        <p:nvSpPr>
          <p:cNvPr id="10" name="Text 7"/>
          <p:cNvSpPr/>
          <p:nvPr/>
        </p:nvSpPr>
        <p:spPr>
          <a:xfrm>
            <a:off x="731520" y="1325880"/>
            <a:ext cx="5577840" cy="420624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IDs sind für Datenmanagement wichtig</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IDs sind normalerweise keine Prädiktoren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Dubletten können Fälle übergewichten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Entscheidung: behalten, entfernen oder manuell prüfen</a:t>
            </a:r>
            <a:endParaRPr lang="en-US" sz="1700" dirty="0"/>
          </a:p>
        </p:txBody>
      </p:sp>
      <p:sp>
        <p:nvSpPr>
          <p:cNvPr id="11" name="Shape 8"/>
          <p:cNvSpPr/>
          <p:nvPr/>
        </p:nvSpPr>
        <p:spPr>
          <a:xfrm>
            <a:off x="6446520" y="1325880"/>
            <a:ext cx="4800600" cy="3200400"/>
          </a:xfrm>
          <a:prstGeom prst="rect">
            <a:avLst/>
          </a:prstGeom>
          <a:solidFill>
            <a:srgbClr val="1F2937"/>
          </a:solidFill>
          <a:ln w="12700">
            <a:solidFill>
              <a:srgbClr val="1F2937"/>
            </a:solidFill>
            <a:prstDash val="solid"/>
          </a:ln>
        </p:spPr>
      </p:sp>
      <p:sp>
        <p:nvSpPr>
          <p:cNvPr id="12" name="Text 9"/>
          <p:cNvSpPr/>
          <p:nvPr/>
        </p:nvSpPr>
        <p:spPr>
          <a:xfrm>
            <a:off x="6611112" y="1453896"/>
            <a:ext cx="4471416" cy="2944368"/>
          </a:xfrm>
          <a:prstGeom prst="rect">
            <a:avLst/>
          </a:prstGeom>
          <a:noFill/>
          <a:ln/>
        </p:spPr>
        <p:txBody>
          <a:bodyPr wrap="square" lIns="0" tIns="0" rIns="0" bIns="0" rtlCol="0" anchor="ctr">
            <a:normAutofit/>
          </a:bodyPr>
          <a:lstStyle/>
          <a:p>
            <a:pPr indent="0" marL="0">
              <a:buNone/>
            </a:pPr>
            <a:r>
              <a:rPr lang="en-US" sz="1240" dirty="0">
                <a:solidFill>
                  <a:srgbClr val="F8FAFC"/>
                </a:solidFill>
                <a:latin typeface="Consolas" pitchFamily="34" charset="0"/>
                <a:ea typeface="Consolas" pitchFamily="34" charset="-122"/>
                <a:cs typeface="Consolas" pitchFamily="34" charset="-120"/>
              </a:rPr>
              <a:t>clean[clean.duplicated(</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    subset='participant_id',</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    keep=False</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a:t>
            </a:r>
            <a:endParaRPr lang="en-US" sz="1240" dirty="0"/>
          </a:p>
          <a:p>
            <a:pPr indent="0" marL="0">
              <a:buNone/>
            </a:pP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clean = clean.drop_duplicates(</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    subset='participant_id',</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    keep='first'</a:t>
            </a:r>
            <a:endParaRPr lang="en-US" sz="1240" dirty="0"/>
          </a:p>
          <a:p>
            <a:pPr indent="0" marL="0">
              <a:buNone/>
            </a:pPr>
            <a:r>
              <a:rPr lang="en-US" sz="1240" dirty="0">
                <a:solidFill>
                  <a:srgbClr val="F8FAFC"/>
                </a:solidFill>
                <a:latin typeface="Consolas" pitchFamily="34" charset="0"/>
                <a:ea typeface="Consolas" pitchFamily="34" charset="-122"/>
                <a:cs typeface="Consolas" pitchFamily="34" charset="-120"/>
              </a:rPr>
              <a:t>)</a:t>
            </a:r>
            <a:endParaRPr lang="en-US" sz="124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Doppelte IDs entfernen</a:t>
            </a:r>
          </a:p>
        </p:txBody>
      </p:sp>
      <p:pic>
        <p:nvPicPr>
          <p:cNvPr id="3" name="Picture 2" descr="slide17_duplicates.png"/>
          <p:cNvPicPr>
            <a:picLocks noChangeAspect="1"/>
          </p:cNvPicPr>
          <p:nvPr/>
        </p:nvPicPr>
        <p:blipFill>
          <a:blip r:embed="rId2"/>
          <a:stretch>
            <a:fillRect/>
          </a:stretch>
        </p:blipFill>
        <p:spPr>
          <a:xfrm>
            <a:off x="457200" y="1005840"/>
            <a:ext cx="11277600" cy="89307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4</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Kategorien bereinigen und Dubletten prüfen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18</a:t>
            </a:r>
            <a:endParaRPr lang="en-US" sz="750" dirty="0"/>
          </a:p>
        </p:txBody>
      </p:sp>
      <p:sp>
        <p:nvSpPr>
          <p:cNvPr id="10" name="Text 7"/>
          <p:cNvSpPr/>
          <p:nvPr/>
        </p:nvSpPr>
        <p:spPr>
          <a:xfrm>
            <a:off x="731520" y="1325880"/>
            <a:ext cx="5486400" cy="411480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Kopieren Sie den Rohdatensatz in `clean`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standardisieren Sie `department` und `gender`</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prüfen Sie die neuen `value_counts()`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finden und entfernen Sie doppelte IDs</a:t>
            </a:r>
            <a:endParaRPr lang="en-US" sz="1700" dirty="0"/>
          </a:p>
        </p:txBody>
      </p:sp>
      <p:sp>
        <p:nvSpPr>
          <p:cNvPr id="11" name="Shape 8"/>
          <p:cNvSpPr/>
          <p:nvPr/>
        </p:nvSpPr>
        <p:spPr>
          <a:xfrm>
            <a:off x="6492240" y="1691640"/>
            <a:ext cx="4709160" cy="1828800"/>
          </a:xfrm>
          <a:prstGeom prst="rect">
            <a:avLst/>
          </a:prstGeom>
          <a:solidFill>
            <a:srgbClr val="1F2937"/>
          </a:solidFill>
          <a:ln w="12700">
            <a:solidFill>
              <a:srgbClr val="1F2937"/>
            </a:solidFill>
            <a:prstDash val="solid"/>
          </a:ln>
        </p:spPr>
      </p:sp>
      <p:sp>
        <p:nvSpPr>
          <p:cNvPr id="12" name="Text 9"/>
          <p:cNvSpPr/>
          <p:nvPr/>
        </p:nvSpPr>
        <p:spPr>
          <a:xfrm>
            <a:off x="6656832" y="1819656"/>
            <a:ext cx="4379976" cy="1572768"/>
          </a:xfrm>
          <a:prstGeom prst="rect">
            <a:avLst/>
          </a:prstGeom>
          <a:noFill/>
          <a:ln/>
        </p:spPr>
        <p:txBody>
          <a:bodyPr wrap="square" lIns="0" tIns="0" rIns="0" bIns="0" rtlCol="0" anchor="ctr">
            <a:normAutofit/>
          </a:bodyPr>
          <a:lstStyle/>
          <a:p>
            <a:pPr indent="0" marL="0">
              <a:buNone/>
            </a:pPr>
            <a:r>
              <a:rPr lang="en-US" sz="1320" dirty="0">
                <a:solidFill>
                  <a:srgbClr val="F8FAFC"/>
                </a:solidFill>
                <a:latin typeface="Consolas" pitchFamily="34" charset="0"/>
                <a:ea typeface="Consolas" pitchFamily="34" charset="-122"/>
                <a:cs typeface="Consolas" pitchFamily="34" charset="-120"/>
              </a:rPr>
              <a:t>clean = df.copy()</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clean.columns = [c.strip().lower() for c in clean.columns]</a:t>
            </a:r>
            <a:endParaRPr lang="en-US" sz="1320" dirty="0"/>
          </a:p>
          <a:p>
            <a:pPr indent="0" marL="0">
              <a:buNone/>
            </a:pP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clean['department'].value_counts(dropna=False)</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Gültige Wertebereiche</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Nicht jeder vorhandene Wert ist plausibel</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19</a:t>
            </a:r>
            <a:endParaRPr lang="en-US" sz="750" dirty="0"/>
          </a:p>
        </p:txBody>
      </p:sp>
      <p:sp>
        <p:nvSpPr>
          <p:cNvPr id="10" name="Text 7"/>
          <p:cNvSpPr/>
          <p:nvPr/>
        </p:nvSpPr>
        <p:spPr>
          <a:xfrm>
            <a:off x="731520" y="1325880"/>
            <a:ext cx="5669280" cy="4297680"/>
          </a:xfrm>
          <a:prstGeom prst="rect">
            <a:avLst/>
          </a:prstGeom>
          <a:noFill/>
          <a:ln/>
        </p:spPr>
        <p:txBody>
          <a:bodyPr wrap="square" lIns="254" tIns="254" rIns="254" bIns="254" rtlCol="0" anchor="ctr">
            <a:normAutofit/>
          </a:bodyPr>
          <a:lstStyle/>
          <a:p>
            <a:pPr indent="0" marL="0">
              <a:buNone/>
            </a:pPr>
            <a:r>
              <a:rPr lang="en-US" sz="1630" dirty="0">
                <a:solidFill>
                  <a:srgbClr val="313A45"/>
                </a:solidFill>
                <a:latin typeface="Aptos" pitchFamily="34" charset="0"/>
                <a:ea typeface="Aptos" pitchFamily="34" charset="-122"/>
                <a:cs typeface="Aptos" pitchFamily="34" charset="-120"/>
              </a:rPr>
              <a:t>• Likert-Skalen: meist klarer Bereich, z. B. 1 bis 5</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Stress-Score: erwarteter Bereich, z. B. 0 bis 100</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Schlafdauer: negative Werte sind unmöglich</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Wochenarbeitszeit: extreme Werte prüfen</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Regeln sollten dokumentiert werden</a:t>
            </a:r>
            <a:endParaRPr lang="en-US" sz="1630" dirty="0"/>
          </a:p>
        </p:txBody>
      </p:sp>
      <p:sp>
        <p:nvSpPr>
          <p:cNvPr id="11" name="Shape 8"/>
          <p:cNvSpPr/>
          <p:nvPr/>
        </p:nvSpPr>
        <p:spPr>
          <a:xfrm>
            <a:off x="6537960" y="1508760"/>
            <a:ext cx="4526280" cy="2194560"/>
          </a:xfrm>
          <a:prstGeom prst="rect">
            <a:avLst/>
          </a:prstGeom>
          <a:solidFill>
            <a:srgbClr val="1F2937"/>
          </a:solidFill>
          <a:ln w="12700">
            <a:solidFill>
              <a:srgbClr val="1F2937"/>
            </a:solidFill>
            <a:prstDash val="solid"/>
          </a:ln>
        </p:spPr>
      </p:sp>
      <p:sp>
        <p:nvSpPr>
          <p:cNvPr id="12" name="Text 9"/>
          <p:cNvSpPr/>
          <p:nvPr/>
        </p:nvSpPr>
        <p:spPr>
          <a:xfrm>
            <a:off x="6702552" y="1636776"/>
            <a:ext cx="4197096" cy="1938528"/>
          </a:xfrm>
          <a:prstGeom prst="rect">
            <a:avLst/>
          </a:prstGeom>
          <a:noFill/>
          <a:ln/>
        </p:spPr>
        <p:txBody>
          <a:bodyPr wrap="square" lIns="0" tIns="0" rIns="0" bIns="0" rtlCol="0" anchor="ctr">
            <a:normAutofit/>
          </a:bodyPr>
          <a:lstStyle/>
          <a:p>
            <a:pPr indent="0" marL="0">
              <a:buNone/>
            </a:pPr>
            <a:r>
              <a:rPr lang="en-US" sz="1320" dirty="0">
                <a:solidFill>
                  <a:srgbClr val="F8FAFC"/>
                </a:solidFill>
                <a:latin typeface="Consolas" pitchFamily="34" charset="0"/>
                <a:ea typeface="Consolas" pitchFamily="34" charset="-122"/>
                <a:cs typeface="Consolas" pitchFamily="34" charset="-120"/>
              </a:rPr>
              <a:t>rules = {</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'satisfaction': (1, 5),</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'motivation': (1, 5),</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'sleep_hours': (0, 12),</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'weekly_hours': (0, 60)</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a:t>
            </a:r>
            <a:endParaRPr lang="en-US" sz="1320" dirty="0"/>
          </a:p>
        </p:txBody>
      </p:sp>
      <p:sp>
        <p:nvSpPr>
          <p:cNvPr id="13" name="Shape 10"/>
          <p:cNvSpPr/>
          <p:nvPr/>
        </p:nvSpPr>
        <p:spPr>
          <a:xfrm>
            <a:off x="6537960" y="4160520"/>
            <a:ext cx="4526280" cy="868680"/>
          </a:xfrm>
          <a:prstGeom prst="roundRect">
            <a:avLst>
              <a:gd name="adj" fmla="val 8421"/>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702552" y="4270248"/>
            <a:ext cx="4197096" cy="649224"/>
          </a:xfrm>
          <a:prstGeom prst="rect">
            <a:avLst/>
          </a:prstGeom>
          <a:noFill/>
          <a:ln/>
        </p:spPr>
        <p:txBody>
          <a:bodyPr wrap="square" lIns="254" tIns="254" rIns="254" bIns="254" rtlCol="0" anchor="ctr">
            <a:normAutofit/>
          </a:bodyPr>
          <a:lstStyle/>
          <a:p>
            <a:pPr algn="ctr" indent="0" marL="0">
              <a:buNone/>
            </a:pPr>
            <a:r>
              <a:rPr lang="en-US" sz="1350" b="1" dirty="0">
                <a:solidFill>
                  <a:srgbClr val="2D9CDB"/>
                </a:solidFill>
                <a:latin typeface="Aptos" pitchFamily="34" charset="0"/>
                <a:ea typeface="Aptos" pitchFamily="34" charset="-122"/>
                <a:cs typeface="Aptos" pitchFamily="34" charset="-120"/>
              </a:rPr>
              <a:t>Interaktion: Welche Regel wirkt eindeutig, welche müsste man diskutieren?</a:t>
            </a:r>
            <a:endParaRPr lang="en-US" sz="13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Ungültige Werte identifiziert</a:t>
            </a:r>
          </a:p>
        </p:txBody>
      </p:sp>
      <p:pic>
        <p:nvPicPr>
          <p:cNvPr id="3" name="Picture 2" descr="slide19_ranges.png"/>
          <p:cNvPicPr>
            <a:picLocks noChangeAspect="1"/>
          </p:cNvPicPr>
          <p:nvPr/>
        </p:nvPicPr>
        <p:blipFill>
          <a:blip r:embed="rId2"/>
          <a:stretch>
            <a:fillRect/>
          </a:stretch>
        </p:blipFill>
        <p:spPr>
          <a:xfrm>
            <a:off x="457200" y="1005840"/>
            <a:ext cx="11277600" cy="545583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5</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Ungültige Werte markieren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20</a:t>
            </a:r>
            <a:endParaRPr lang="en-US" sz="750" dirty="0"/>
          </a:p>
        </p:txBody>
      </p:sp>
      <p:sp>
        <p:nvSpPr>
          <p:cNvPr id="10" name="Text 7"/>
          <p:cNvSpPr/>
          <p:nvPr/>
        </p:nvSpPr>
        <p:spPr>
          <a:xfrm>
            <a:off x="731520" y="1325880"/>
            <a:ext cx="5577840" cy="411480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numerische Spalten als Zahlen interpretieren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Regeln für plausible Bereiche anwenden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unplausible Werte auf fehlend setzen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danach Missingness erneut prüfen</a:t>
            </a:r>
            <a:endParaRPr lang="en-US" sz="1700" dirty="0"/>
          </a:p>
        </p:txBody>
      </p:sp>
      <p:sp>
        <p:nvSpPr>
          <p:cNvPr id="11" name="Shape 8"/>
          <p:cNvSpPr/>
          <p:nvPr/>
        </p:nvSpPr>
        <p:spPr>
          <a:xfrm>
            <a:off x="6446520" y="1554480"/>
            <a:ext cx="4800600" cy="2057400"/>
          </a:xfrm>
          <a:prstGeom prst="rect">
            <a:avLst/>
          </a:prstGeom>
          <a:solidFill>
            <a:srgbClr val="1F2937"/>
          </a:solidFill>
          <a:ln w="12700">
            <a:solidFill>
              <a:srgbClr val="1F2937"/>
            </a:solidFill>
            <a:prstDash val="solid"/>
          </a:ln>
        </p:spPr>
      </p:sp>
      <p:sp>
        <p:nvSpPr>
          <p:cNvPr id="12" name="Text 9"/>
          <p:cNvSpPr/>
          <p:nvPr/>
        </p:nvSpPr>
        <p:spPr>
          <a:xfrm>
            <a:off x="6611112" y="1682496"/>
            <a:ext cx="4471416" cy="1801368"/>
          </a:xfrm>
          <a:prstGeom prst="rect">
            <a:avLst/>
          </a:prstGeom>
          <a:noFill/>
          <a:ln/>
        </p:spPr>
        <p:txBody>
          <a:bodyPr wrap="square" lIns="0" tIns="0" rIns="0" bIns="0" rtlCol="0" anchor="ctr">
            <a:normAutofit/>
          </a:bodyPr>
          <a:lstStyle/>
          <a:p>
            <a:pPr indent="0" marL="0">
              <a:buNone/>
            </a:pPr>
            <a:r>
              <a:rPr lang="en-US" sz="1280" dirty="0">
                <a:solidFill>
                  <a:srgbClr val="F8FAFC"/>
                </a:solidFill>
                <a:latin typeface="Consolas" pitchFamily="34" charset="0"/>
                <a:ea typeface="Consolas" pitchFamily="34" charset="-122"/>
                <a:cs typeface="Consolas" pitchFamily="34" charset="-120"/>
              </a:rPr>
              <a:t>for c, (lo, hi) in rules.items():</a:t>
            </a:r>
            <a:endParaRPr lang="en-US" sz="1280" dirty="0"/>
          </a:p>
          <a:p>
            <a:pPr indent="0" marL="0">
              <a:buNone/>
            </a:pPr>
            <a:r>
              <a:rPr lang="en-US" sz="1280" dirty="0">
                <a:solidFill>
                  <a:srgbClr val="F8FAFC"/>
                </a:solidFill>
                <a:latin typeface="Consolas" pitchFamily="34" charset="0"/>
                <a:ea typeface="Consolas" pitchFamily="34" charset="-122"/>
                <a:cs typeface="Consolas" pitchFamily="34" charset="-120"/>
              </a:rPr>
              <a:t>    clean.loc[~clean[c].between(lo, hi), c] = np.nan</a:t>
            </a:r>
            <a:endParaRPr lang="en-US" sz="1280" dirty="0"/>
          </a:p>
          <a:p>
            <a:pPr indent="0" marL="0">
              <a:buNone/>
            </a:pPr>
            <a:endParaRPr lang="en-US" sz="1280" dirty="0"/>
          </a:p>
          <a:p>
            <a:pPr indent="0" marL="0">
              <a:buNone/>
            </a:pPr>
            <a:r>
              <a:rPr lang="en-US" sz="1280" dirty="0">
                <a:solidFill>
                  <a:srgbClr val="F8FAFC"/>
                </a:solidFill>
                <a:latin typeface="Consolas" pitchFamily="34" charset="0"/>
                <a:ea typeface="Consolas" pitchFamily="34" charset="-122"/>
                <a:cs typeface="Consolas" pitchFamily="34" charset="-120"/>
              </a:rPr>
              <a:t>clean.isna().sum().sort_values(ascending=False)</a:t>
            </a:r>
            <a:endParaRPr lang="en-US" sz="12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Fehlende Werte behandeln</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Löschen, ersetzen oder bewusst offen lassen?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21</a:t>
            </a:r>
            <a:endParaRPr lang="en-US" sz="750" dirty="0"/>
          </a:p>
        </p:txBody>
      </p:sp>
      <p:sp>
        <p:nvSpPr>
          <p:cNvPr id="10" name="Text 7"/>
          <p:cNvSpPr/>
          <p:nvPr/>
        </p:nvSpPr>
        <p:spPr>
          <a:xfrm>
            <a:off x="731520" y="1234440"/>
            <a:ext cx="5760720" cy="448056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Fall löschen: einfach, aber Datenverlust</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Wert ersetzen: praktisch, aber Annahme nötig</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Median: robust gegenüber Ausreißern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Mittelwert: verständlich, aber ausreißeranfälliger</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Fehlend als eigene Information: manchmal sinnvoll</a:t>
            </a:r>
            <a:endParaRPr lang="en-US" sz="1650" dirty="0"/>
          </a:p>
        </p:txBody>
      </p:sp>
      <p:sp>
        <p:nvSpPr>
          <p:cNvPr id="11" name="Shape 8"/>
          <p:cNvSpPr/>
          <p:nvPr/>
        </p:nvSpPr>
        <p:spPr>
          <a:xfrm>
            <a:off x="6629400" y="1783080"/>
            <a:ext cx="4526280" cy="914400"/>
          </a:xfrm>
          <a:prstGeom prst="roundRect">
            <a:avLst>
              <a:gd name="adj" fmla="val 8000"/>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793992" y="1892808"/>
            <a:ext cx="4197096" cy="694944"/>
          </a:xfrm>
          <a:prstGeom prst="rect">
            <a:avLst/>
          </a:prstGeom>
          <a:noFill/>
          <a:ln/>
        </p:spPr>
        <p:txBody>
          <a:bodyPr wrap="square" lIns="254" tIns="254" rIns="254" bIns="254" rtlCol="0" anchor="ctr">
            <a:normAutofit/>
          </a:bodyPr>
          <a:lstStyle/>
          <a:p>
            <a:pPr algn="ctr" indent="0" marL="0">
              <a:buNone/>
            </a:pPr>
            <a:r>
              <a:rPr lang="en-US" sz="1450" b="1" dirty="0">
                <a:solidFill>
                  <a:srgbClr val="F26D3D"/>
                </a:solidFill>
                <a:latin typeface="Aptos" pitchFamily="34" charset="0"/>
                <a:ea typeface="Aptos" pitchFamily="34" charset="-122"/>
                <a:cs typeface="Aptos" pitchFamily="34" charset="-120"/>
              </a:rPr>
              <a:t>Für die Demo: numerische Missing Values werden mit dem Median ersetzt.</a:t>
            </a:r>
            <a:endParaRPr lang="en-US" sz="1450" dirty="0"/>
          </a:p>
        </p:txBody>
      </p:sp>
      <p:sp>
        <p:nvSpPr>
          <p:cNvPr id="13" name="Shape 10"/>
          <p:cNvSpPr/>
          <p:nvPr/>
        </p:nvSpPr>
        <p:spPr>
          <a:xfrm>
            <a:off x="6629400" y="3246120"/>
            <a:ext cx="4526280" cy="914400"/>
          </a:xfrm>
          <a:prstGeom prst="rect">
            <a:avLst/>
          </a:prstGeom>
          <a:solidFill>
            <a:srgbClr val="1F2937"/>
          </a:solidFill>
          <a:ln w="12700">
            <a:solidFill>
              <a:srgbClr val="1F2937"/>
            </a:solidFill>
            <a:prstDash val="solid"/>
          </a:ln>
        </p:spPr>
      </p:sp>
      <p:sp>
        <p:nvSpPr>
          <p:cNvPr id="14" name="Text 11"/>
          <p:cNvSpPr/>
          <p:nvPr/>
        </p:nvSpPr>
        <p:spPr>
          <a:xfrm>
            <a:off x="6793992" y="3374136"/>
            <a:ext cx="4197096" cy="658368"/>
          </a:xfrm>
          <a:prstGeom prst="rect">
            <a:avLst/>
          </a:prstGeom>
          <a:noFill/>
          <a:ln/>
        </p:spPr>
        <p:txBody>
          <a:bodyPr wrap="square" lIns="0" tIns="0" rIns="0" bIns="0" rtlCol="0" anchor="ctr">
            <a:normAutofit/>
          </a:bodyPr>
          <a:lstStyle/>
          <a:p>
            <a:pPr indent="0" marL="0">
              <a:buNone/>
            </a:pPr>
            <a:r>
              <a:rPr lang="en-US" sz="1320" dirty="0">
                <a:solidFill>
                  <a:srgbClr val="F8FAFC"/>
                </a:solidFill>
                <a:latin typeface="Consolas" pitchFamily="34" charset="0"/>
                <a:ea typeface="Consolas" pitchFamily="34" charset="-122"/>
                <a:cs typeface="Consolas" pitchFamily="34" charset="-120"/>
              </a:rPr>
              <a:t>for c in numeric_cols:</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clean[c] = clean[c].fillna(clean[c].median())</a:t>
            </a:r>
            <a:endParaRPr lang="en-US" sz="132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Missing Values: Vorher / Nachher</a:t>
            </a:r>
          </a:p>
        </p:txBody>
      </p:sp>
      <p:pic>
        <p:nvPicPr>
          <p:cNvPr id="3" name="Picture 2" descr="slide21_imputation.png"/>
          <p:cNvPicPr>
            <a:picLocks noChangeAspect="1"/>
          </p:cNvPicPr>
          <p:nvPr/>
        </p:nvPicPr>
        <p:blipFill>
          <a:blip r:embed="rId2"/>
          <a:stretch>
            <a:fillRect/>
          </a:stretch>
        </p:blipFill>
        <p:spPr>
          <a:xfrm>
            <a:off x="457200" y="1005840"/>
            <a:ext cx="11277600" cy="437828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6</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Missing Values behandeln und bereinigte Daten speichern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22</a:t>
            </a:r>
            <a:endParaRPr lang="en-US" sz="750" dirty="0"/>
          </a:p>
        </p:txBody>
      </p:sp>
      <p:sp>
        <p:nvSpPr>
          <p:cNvPr id="10" name="Text 7"/>
          <p:cNvSpPr/>
          <p:nvPr/>
        </p:nvSpPr>
        <p:spPr>
          <a:xfrm>
            <a:off x="731520" y="1325880"/>
            <a:ext cx="5577840" cy="420624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Median-Imputation durchführen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prüfen: keine fehlenden Werte mehr</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bereinigte Daten als CSV speichern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danach mit einem sauberen Ausgangspunkt weiterarbeiten</a:t>
            </a:r>
            <a:endParaRPr lang="en-US" sz="1700" dirty="0"/>
          </a:p>
        </p:txBody>
      </p:sp>
      <p:sp>
        <p:nvSpPr>
          <p:cNvPr id="11" name="Shape 8"/>
          <p:cNvSpPr/>
          <p:nvPr/>
        </p:nvSpPr>
        <p:spPr>
          <a:xfrm>
            <a:off x="6446520" y="1600200"/>
            <a:ext cx="4846320" cy="1965960"/>
          </a:xfrm>
          <a:prstGeom prst="rect">
            <a:avLst/>
          </a:prstGeom>
          <a:solidFill>
            <a:srgbClr val="1F2937"/>
          </a:solidFill>
          <a:ln w="12700">
            <a:solidFill>
              <a:srgbClr val="1F2937"/>
            </a:solidFill>
            <a:prstDash val="solid"/>
          </a:ln>
        </p:spPr>
      </p:sp>
      <p:sp>
        <p:nvSpPr>
          <p:cNvPr id="12" name="Text 9"/>
          <p:cNvSpPr/>
          <p:nvPr/>
        </p:nvSpPr>
        <p:spPr>
          <a:xfrm>
            <a:off x="6611112" y="1728216"/>
            <a:ext cx="4517136" cy="1709928"/>
          </a:xfrm>
          <a:prstGeom prst="rect">
            <a:avLst/>
          </a:prstGeom>
          <a:noFill/>
          <a:ln/>
        </p:spPr>
        <p:txBody>
          <a:bodyPr wrap="square" lIns="0" tIns="0" rIns="0" bIns="0" rtlCol="0" anchor="ctr">
            <a:normAutofit/>
          </a:bodyPr>
          <a:lstStyle/>
          <a:p>
            <a:pPr indent="0" marL="0">
              <a:buNone/>
            </a:pPr>
            <a:r>
              <a:rPr lang="en-US" sz="1320" dirty="0">
                <a:solidFill>
                  <a:srgbClr val="F8FAFC"/>
                </a:solidFill>
                <a:latin typeface="Consolas" pitchFamily="34" charset="0"/>
                <a:ea typeface="Consolas" pitchFamily="34" charset="-122"/>
                <a:cs typeface="Consolas" pitchFamily="34" charset="-120"/>
              </a:rPr>
              <a:t>for c in numeric_cols:</a:t>
            </a: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    clean[c] = clean[c].fillna(clean[c].median())</a:t>
            </a:r>
            <a:endParaRPr lang="en-US" sz="1320" dirty="0"/>
          </a:p>
          <a:p>
            <a:pPr indent="0" marL="0">
              <a:buNone/>
            </a:pPr>
            <a:endParaRPr lang="en-US" sz="1320" dirty="0"/>
          </a:p>
          <a:p>
            <a:pPr indent="0" marL="0">
              <a:buNone/>
            </a:pPr>
            <a:r>
              <a:rPr lang="en-US" sz="1320" dirty="0">
                <a:solidFill>
                  <a:srgbClr val="F8FAFC"/>
                </a:solidFill>
                <a:latin typeface="Consolas" pitchFamily="34" charset="0"/>
                <a:ea typeface="Consolas" pitchFamily="34" charset="-122"/>
                <a:cs typeface="Consolas" pitchFamily="34" charset="-120"/>
              </a:rPr>
              <a:t>clean.to_csv('lecture_05_employee_survey_cleaned.csv', index=False)</a:t>
            </a:r>
            <a:endParaRPr lang="en-US" sz="13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Feature Engineering</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Aus vorhandenen Variablen entstehen neue nützliche Variablen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23</a:t>
            </a:r>
            <a:endParaRPr lang="en-US" sz="750" dirty="0"/>
          </a:p>
        </p:txBody>
      </p:sp>
      <p:sp>
        <p:nvSpPr>
          <p:cNvPr id="10" name="Text 7"/>
          <p:cNvSpPr/>
          <p:nvPr/>
        </p:nvSpPr>
        <p:spPr>
          <a:xfrm>
            <a:off x="731520" y="1234440"/>
            <a:ext cx="5669280" cy="438912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mehrere Items zu einer Skala zusammenfassen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Indexwerte oder Differenzen bilden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Variablen zentrieren oder transformieren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kategoriale Variablen für Modelle codieren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immer inhaltlich begründen, nicht nur technisch erzeugen</a:t>
            </a:r>
            <a:endParaRPr lang="en-US" sz="1650" dirty="0"/>
          </a:p>
        </p:txBody>
      </p:sp>
      <p:sp>
        <p:nvSpPr>
          <p:cNvPr id="11" name="Shape 8"/>
          <p:cNvSpPr/>
          <p:nvPr/>
        </p:nvSpPr>
        <p:spPr>
          <a:xfrm>
            <a:off x="6583680" y="1645920"/>
            <a:ext cx="4434840" cy="1325880"/>
          </a:xfrm>
          <a:prstGeom prst="rect">
            <a:avLst/>
          </a:prstGeom>
          <a:solidFill>
            <a:srgbClr val="1F2937"/>
          </a:solidFill>
          <a:ln w="12700">
            <a:solidFill>
              <a:srgbClr val="1F2937"/>
            </a:solidFill>
            <a:prstDash val="solid"/>
          </a:ln>
        </p:spPr>
      </p:sp>
      <p:sp>
        <p:nvSpPr>
          <p:cNvPr id="12" name="Text 9"/>
          <p:cNvSpPr/>
          <p:nvPr/>
        </p:nvSpPr>
        <p:spPr>
          <a:xfrm>
            <a:off x="6748272" y="1773936"/>
            <a:ext cx="4105656" cy="106984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df['workload_mean'] = df[[</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'workload_1', 'workload_2'</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]].mean(axis=1)</a:t>
            </a:r>
            <a:endParaRPr lang="en-US" sz="1350" dirty="0"/>
          </a:p>
        </p:txBody>
      </p:sp>
      <p:sp>
        <p:nvSpPr>
          <p:cNvPr id="13" name="Shape 10"/>
          <p:cNvSpPr/>
          <p:nvPr/>
        </p:nvSpPr>
        <p:spPr>
          <a:xfrm>
            <a:off x="6583680" y="3429000"/>
            <a:ext cx="4434840" cy="777240"/>
          </a:xfrm>
          <a:prstGeom prst="roundRect">
            <a:avLst>
              <a:gd name="adj" fmla="val 9412"/>
            </a:avLst>
          </a:prstGeom>
          <a:solidFill>
            <a:srgbClr val="EAF5EA"/>
          </a:solidFill>
          <a:ln w="15240">
            <a:solidFill>
              <a:srgbClr val="2E7D32"/>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748272" y="3538728"/>
            <a:ext cx="4105656" cy="557784"/>
          </a:xfrm>
          <a:prstGeom prst="rect">
            <a:avLst/>
          </a:prstGeom>
          <a:noFill/>
          <a:ln/>
        </p:spPr>
        <p:txBody>
          <a:bodyPr wrap="square" lIns="254" tIns="254" rIns="254" bIns="254" rtlCol="0" anchor="ctr">
            <a:normAutofit/>
          </a:bodyPr>
          <a:lstStyle/>
          <a:p>
            <a:pPr algn="ctr" indent="0" marL="0">
              <a:buNone/>
            </a:pPr>
            <a:r>
              <a:rPr lang="en-US" sz="1400" b="1" dirty="0">
                <a:solidFill>
                  <a:srgbClr val="2E7D32"/>
                </a:solidFill>
                <a:latin typeface="Aptos" pitchFamily="34" charset="0"/>
                <a:ea typeface="Aptos" pitchFamily="34" charset="-122"/>
                <a:cs typeface="Aptos" pitchFamily="34" charset="-120"/>
              </a:rPr>
              <a:t>Ein Feature ist eine bewusste Modell- oder Analyseentscheidung.</a:t>
            </a:r>
            <a:endParaRPr lang="en-US" sz="14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Feature Engineering: neue Variablen</a:t>
            </a:r>
          </a:p>
        </p:txBody>
      </p:sp>
      <p:pic>
        <p:nvPicPr>
          <p:cNvPr id="3" name="Picture 2" descr="slide23_features.png"/>
          <p:cNvPicPr>
            <a:picLocks noChangeAspect="1"/>
          </p:cNvPicPr>
          <p:nvPr/>
        </p:nvPicPr>
        <p:blipFill>
          <a:blip r:embed="rId2"/>
          <a:stretch>
            <a:fillRect/>
          </a:stretch>
        </p:blipFill>
        <p:spPr>
          <a:xfrm>
            <a:off x="457200" y="1005840"/>
            <a:ext cx="11277600" cy="296951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7</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Neue Variablen erzeugen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24</a:t>
            </a:r>
            <a:endParaRPr lang="en-US" sz="750" dirty="0"/>
          </a:p>
        </p:txBody>
      </p:sp>
      <p:sp>
        <p:nvSpPr>
          <p:cNvPr id="10" name="Text 7"/>
          <p:cNvSpPr/>
          <p:nvPr/>
        </p:nvSpPr>
        <p:spPr>
          <a:xfrm>
            <a:off x="731520" y="1325880"/>
            <a:ext cx="5532120" cy="411480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`workload_mean` aus zwei Workload-Items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`autonomy_mean` aus zwei Autonomie-Items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`support_mean` aus zwei Support-Items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`overload_index` als eigene Feature-Idee</a:t>
            </a:r>
            <a:endParaRPr lang="en-US" sz="1700" dirty="0"/>
          </a:p>
        </p:txBody>
      </p:sp>
      <p:sp>
        <p:nvSpPr>
          <p:cNvPr id="11" name="Shape 8"/>
          <p:cNvSpPr/>
          <p:nvPr/>
        </p:nvSpPr>
        <p:spPr>
          <a:xfrm>
            <a:off x="6446520" y="1417320"/>
            <a:ext cx="4800600" cy="2286000"/>
          </a:xfrm>
          <a:prstGeom prst="rect">
            <a:avLst/>
          </a:prstGeom>
          <a:solidFill>
            <a:srgbClr val="1F2937"/>
          </a:solidFill>
          <a:ln w="12700">
            <a:solidFill>
              <a:srgbClr val="1F2937"/>
            </a:solidFill>
            <a:prstDash val="solid"/>
          </a:ln>
        </p:spPr>
      </p:sp>
      <p:sp>
        <p:nvSpPr>
          <p:cNvPr id="12" name="Text 9"/>
          <p:cNvSpPr/>
          <p:nvPr/>
        </p:nvSpPr>
        <p:spPr>
          <a:xfrm>
            <a:off x="6611112" y="1545336"/>
            <a:ext cx="4471416" cy="2029968"/>
          </a:xfrm>
          <a:prstGeom prst="rect">
            <a:avLst/>
          </a:prstGeom>
          <a:noFill/>
          <a:ln/>
        </p:spPr>
        <p:txBody>
          <a:bodyPr wrap="square" lIns="0" tIns="0" rIns="0" bIns="0" rtlCol="0" anchor="ctr">
            <a:normAutofit/>
          </a:bodyPr>
          <a:lstStyle/>
          <a:p>
            <a:pPr indent="0" marL="0">
              <a:buNone/>
            </a:pPr>
            <a:r>
              <a:rPr lang="en-US" sz="1230" dirty="0">
                <a:solidFill>
                  <a:srgbClr val="F8FAFC"/>
                </a:solidFill>
                <a:latin typeface="Consolas" pitchFamily="34" charset="0"/>
                <a:ea typeface="Consolas" pitchFamily="34" charset="-122"/>
                <a:cs typeface="Consolas" pitchFamily="34" charset="-120"/>
              </a:rPr>
              <a:t>df['workload_mean'] = df[['workload_1','workload_2']].mean(axis=1)</a:t>
            </a:r>
            <a:endParaRPr lang="en-US" sz="1230" dirty="0"/>
          </a:p>
          <a:p>
            <a:pPr indent="0" marL="0">
              <a:buNone/>
            </a:pPr>
            <a:r>
              <a:rPr lang="en-US" sz="1230" dirty="0">
                <a:solidFill>
                  <a:srgbClr val="F8FAFC"/>
                </a:solidFill>
                <a:latin typeface="Consolas" pitchFamily="34" charset="0"/>
                <a:ea typeface="Consolas" pitchFamily="34" charset="-122"/>
                <a:cs typeface="Consolas" pitchFamily="34" charset="-120"/>
              </a:rPr>
              <a:t>df['autonomy_mean'] = df[['autonomy_1','autonomy_2']].mean(axis=1)</a:t>
            </a:r>
            <a:endParaRPr lang="en-US" sz="1230" dirty="0"/>
          </a:p>
          <a:p>
            <a:pPr indent="0" marL="0">
              <a:buNone/>
            </a:pPr>
            <a:r>
              <a:rPr lang="en-US" sz="1230" dirty="0">
                <a:solidFill>
                  <a:srgbClr val="F8FAFC"/>
                </a:solidFill>
                <a:latin typeface="Consolas" pitchFamily="34" charset="0"/>
                <a:ea typeface="Consolas" pitchFamily="34" charset="-122"/>
                <a:cs typeface="Consolas" pitchFamily="34" charset="-120"/>
              </a:rPr>
              <a:t>df['support_mean'] = df[['support_1','support_2']].mean(axis=1)</a:t>
            </a:r>
            <a:endParaRPr lang="en-US" sz="12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Summary Statistics nach der Bereinigung</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Jetzt sind deskriptive Statistiken sinnvoller lesbar</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25</a:t>
            </a:r>
            <a:endParaRPr lang="en-US" sz="750" dirty="0"/>
          </a:p>
        </p:txBody>
      </p:sp>
      <p:sp>
        <p:nvSpPr>
          <p:cNvPr id="10" name="Text 7"/>
          <p:cNvSpPr/>
          <p:nvPr/>
        </p:nvSpPr>
        <p:spPr>
          <a:xfrm>
            <a:off x="731520" y="1234440"/>
            <a:ext cx="5440680" cy="438912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Mittelwert, Standardabweichung, Min und Max</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Verteilungen und Boxplots</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Gruppenmittelwerte mit `groupby`</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Korrelationen als erste Orientierung</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noch keine kausalen Aussagen</a:t>
            </a:r>
            <a:endParaRPr lang="en-US" sz="1700" dirty="0"/>
          </a:p>
        </p:txBody>
      </p:sp>
      <p:sp>
        <p:nvSpPr>
          <p:cNvPr id="11" name="Shape 8"/>
          <p:cNvSpPr/>
          <p:nvPr/>
        </p:nvSpPr>
        <p:spPr>
          <a:xfrm>
            <a:off x="6400800" y="1234440"/>
            <a:ext cx="4800600" cy="2331720"/>
          </a:xfrm>
          <a:prstGeom prst="roundRect">
            <a:avLst>
              <a:gd name="adj" fmla="val 3137"/>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2" name="Image 0" descr="/mnt/data/lecture05_work/assets/summary_boxplot.png">    </p:cNvPr>
          <p:cNvPicPr>
            <a:picLocks noChangeAspect="1"/>
          </p:cNvPicPr>
          <p:nvPr/>
        </p:nvPicPr>
        <p:blipFill>
          <a:blip r:embed="rId1"/>
          <a:stretch>
            <a:fillRect/>
          </a:stretch>
        </p:blipFill>
        <p:spPr>
          <a:xfrm>
            <a:off x="6891020" y="1325880"/>
            <a:ext cx="3820160" cy="2148840"/>
          </a:xfrm>
          <a:prstGeom prst="rect">
            <a:avLst/>
          </a:prstGeom>
        </p:spPr>
      </p:pic>
      <p:sp>
        <p:nvSpPr>
          <p:cNvPr id="13" name="Shape 9"/>
          <p:cNvSpPr/>
          <p:nvPr/>
        </p:nvSpPr>
        <p:spPr>
          <a:xfrm>
            <a:off x="6400800" y="3749040"/>
            <a:ext cx="4800600" cy="1965960"/>
          </a:xfrm>
          <a:prstGeom prst="roundRect">
            <a:avLst>
              <a:gd name="adj" fmla="val 3721"/>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4" name="Image 1" descr="/mnt/data/lecture05_work/assets/satisfaction_by_department.png">    </p:cNvPr>
          <p:cNvPicPr>
            <a:picLocks noChangeAspect="1"/>
          </p:cNvPicPr>
          <p:nvPr/>
        </p:nvPicPr>
        <p:blipFill>
          <a:blip r:embed="rId2"/>
          <a:stretch>
            <a:fillRect/>
          </a:stretch>
        </p:blipFill>
        <p:spPr>
          <a:xfrm>
            <a:off x="7216140" y="3840480"/>
            <a:ext cx="3169920" cy="17830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8</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Deskriptive Analysen mit `describe()` und `groupby()`</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26</a:t>
            </a:r>
            <a:endParaRPr lang="en-US" sz="750" dirty="0"/>
          </a:p>
        </p:txBody>
      </p:sp>
      <p:sp>
        <p:nvSpPr>
          <p:cNvPr id="10" name="Text 7"/>
          <p:cNvSpPr/>
          <p:nvPr/>
        </p:nvSpPr>
        <p:spPr>
          <a:xfrm>
            <a:off x="731520" y="1325880"/>
            <a:ext cx="5486400" cy="402336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Summary Statistics für zentrale Variablen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Gruppenmittelwerte nach Abteilung</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Korrelationen als grobe Orientierung</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kurz interpretieren, aber nicht überinterpretieren</a:t>
            </a:r>
            <a:endParaRPr lang="en-US" sz="1700" dirty="0"/>
          </a:p>
        </p:txBody>
      </p:sp>
      <p:sp>
        <p:nvSpPr>
          <p:cNvPr id="11" name="Shape 8"/>
          <p:cNvSpPr/>
          <p:nvPr/>
        </p:nvSpPr>
        <p:spPr>
          <a:xfrm>
            <a:off x="6446520" y="1554480"/>
            <a:ext cx="4800600" cy="2331720"/>
          </a:xfrm>
          <a:prstGeom prst="rect">
            <a:avLst/>
          </a:prstGeom>
          <a:solidFill>
            <a:srgbClr val="1F2937"/>
          </a:solidFill>
          <a:ln w="12700">
            <a:solidFill>
              <a:srgbClr val="1F2937"/>
            </a:solidFill>
            <a:prstDash val="solid"/>
          </a:ln>
        </p:spPr>
      </p:sp>
      <p:sp>
        <p:nvSpPr>
          <p:cNvPr id="12" name="Text 9"/>
          <p:cNvSpPr/>
          <p:nvPr/>
        </p:nvSpPr>
        <p:spPr>
          <a:xfrm>
            <a:off x="6611112" y="1682496"/>
            <a:ext cx="4471416" cy="2075688"/>
          </a:xfrm>
          <a:prstGeom prst="rect">
            <a:avLst/>
          </a:prstGeom>
          <a:noFill/>
          <a:ln/>
        </p:spPr>
        <p:txBody>
          <a:bodyPr wrap="square" lIns="0" tIns="0" rIns="0" bIns="0" rtlCol="0" anchor="ctr">
            <a:normAutofit/>
          </a:bodyPr>
          <a:lstStyle/>
          <a:p>
            <a:pPr indent="0" marL="0">
              <a:buNone/>
            </a:pPr>
            <a:r>
              <a:rPr lang="en-US" sz="1280" dirty="0">
                <a:solidFill>
                  <a:srgbClr val="F8FAFC"/>
                </a:solidFill>
                <a:latin typeface="Consolas" pitchFamily="34" charset="0"/>
                <a:ea typeface="Consolas" pitchFamily="34" charset="-122"/>
                <a:cs typeface="Consolas" pitchFamily="34" charset="-120"/>
              </a:rPr>
              <a:t>summary_cols = ['satisfaction','stress_score','motivation']</a:t>
            </a:r>
            <a:endParaRPr lang="en-US" sz="1280" dirty="0"/>
          </a:p>
          <a:p>
            <a:pPr indent="0" marL="0">
              <a:buNone/>
            </a:pPr>
            <a:r>
              <a:rPr lang="en-US" sz="1280" dirty="0">
                <a:solidFill>
                  <a:srgbClr val="F8FAFC"/>
                </a:solidFill>
                <a:latin typeface="Consolas" pitchFamily="34" charset="0"/>
                <a:ea typeface="Consolas" pitchFamily="34" charset="-122"/>
                <a:cs typeface="Consolas" pitchFamily="34" charset="-120"/>
              </a:rPr>
              <a:t>df[summary_cols].describe().T</a:t>
            </a:r>
            <a:endParaRPr lang="en-US" sz="1280" dirty="0"/>
          </a:p>
          <a:p>
            <a:pPr indent="0" marL="0">
              <a:buNone/>
            </a:pPr>
            <a:endParaRPr lang="en-US" sz="1280" dirty="0"/>
          </a:p>
          <a:p>
            <a:pPr indent="0" marL="0">
              <a:buNone/>
            </a:pPr>
            <a:r>
              <a:rPr lang="en-US" sz="1280" dirty="0">
                <a:solidFill>
                  <a:srgbClr val="F8FAFC"/>
                </a:solidFill>
                <a:latin typeface="Consolas" pitchFamily="34" charset="0"/>
                <a:ea typeface="Consolas" pitchFamily="34" charset="-122"/>
                <a:cs typeface="Consolas" pitchFamily="34" charset="-120"/>
              </a:rPr>
              <a:t>df.groupby('department')['satisfaction'].mean()</a:t>
            </a:r>
            <a:endParaRPr lang="en-US" sz="12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Von analysis-ready zu model-ready</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Ein Modell braucht Y und X in klarer Form</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27</a:t>
            </a:r>
            <a:endParaRPr lang="en-US" sz="750" dirty="0"/>
          </a:p>
        </p:txBody>
      </p:sp>
      <p:sp>
        <p:nvSpPr>
          <p:cNvPr id="10" name="Text 7"/>
          <p:cNvSpPr/>
          <p:nvPr/>
        </p:nvSpPr>
        <p:spPr>
          <a:xfrm>
            <a:off x="731520" y="1234440"/>
            <a:ext cx="5760720" cy="4389120"/>
          </a:xfrm>
          <a:prstGeom prst="rect">
            <a:avLst/>
          </a:prstGeom>
          <a:noFill/>
          <a:ln/>
        </p:spPr>
        <p:txBody>
          <a:bodyPr wrap="square" lIns="254" tIns="254" rIns="254" bIns="254" rtlCol="0" anchor="ctr">
            <a:normAutofit/>
          </a:bodyPr>
          <a:lstStyle/>
          <a:p>
            <a:pPr indent="0" marL="0">
              <a:buNone/>
            </a:pPr>
            <a:r>
              <a:rPr lang="en-US" sz="1640" dirty="0">
                <a:solidFill>
                  <a:srgbClr val="313A45"/>
                </a:solidFill>
                <a:latin typeface="Aptos" pitchFamily="34" charset="0"/>
                <a:ea typeface="Aptos" pitchFamily="34" charset="-122"/>
                <a:cs typeface="Aptos" pitchFamily="34" charset="-120"/>
              </a:rPr>
              <a:t>• Y = abhängige Variable / Zielvariable</a:t>
            </a:r>
            <a:endParaRPr lang="en-US" sz="1640" dirty="0"/>
          </a:p>
          <a:p>
            <a:pPr indent="0" marL="0">
              <a:buNone/>
            </a:pPr>
            <a:r>
              <a:rPr lang="en-US" sz="1640" dirty="0">
                <a:solidFill>
                  <a:srgbClr val="313A45"/>
                </a:solidFill>
                <a:latin typeface="Aptos" pitchFamily="34" charset="0"/>
                <a:ea typeface="Aptos" pitchFamily="34" charset="-122"/>
                <a:cs typeface="Aptos" pitchFamily="34" charset="-120"/>
              </a:rPr>
              <a:t>• X = unabhängige Variablen / Prädiktoren</a:t>
            </a:r>
            <a:endParaRPr lang="en-US" sz="1640" dirty="0"/>
          </a:p>
          <a:p>
            <a:pPr indent="0" marL="0">
              <a:buNone/>
            </a:pPr>
            <a:r>
              <a:rPr lang="en-US" sz="1640" dirty="0">
                <a:solidFill>
                  <a:srgbClr val="313A45"/>
                </a:solidFill>
                <a:latin typeface="Aptos" pitchFamily="34" charset="0"/>
                <a:ea typeface="Aptos" pitchFamily="34" charset="-122"/>
                <a:cs typeface="Aptos" pitchFamily="34" charset="-120"/>
              </a:rPr>
              <a:t>• IDs bleiben außerhalb von X</a:t>
            </a:r>
            <a:endParaRPr lang="en-US" sz="1640" dirty="0"/>
          </a:p>
          <a:p>
            <a:pPr indent="0" marL="0">
              <a:buNone/>
            </a:pPr>
            <a:r>
              <a:rPr lang="en-US" sz="1640" dirty="0">
                <a:solidFill>
                  <a:srgbClr val="313A45"/>
                </a:solidFill>
                <a:latin typeface="Aptos" pitchFamily="34" charset="0"/>
                <a:ea typeface="Aptos" pitchFamily="34" charset="-122"/>
                <a:cs typeface="Aptos" pitchFamily="34" charset="-120"/>
              </a:rPr>
              <a:t>• kategoriale Variablen müssen numerisch codiert werden</a:t>
            </a:r>
            <a:endParaRPr lang="en-US" sz="1640" dirty="0"/>
          </a:p>
          <a:p>
            <a:pPr indent="0" marL="0">
              <a:buNone/>
            </a:pPr>
            <a:r>
              <a:rPr lang="en-US" sz="1640" dirty="0">
                <a:solidFill>
                  <a:srgbClr val="313A45"/>
                </a:solidFill>
                <a:latin typeface="Aptos" pitchFamily="34" charset="0"/>
                <a:ea typeface="Aptos" pitchFamily="34" charset="-122"/>
                <a:cs typeface="Aptos" pitchFamily="34" charset="-120"/>
              </a:rPr>
              <a:t>• jede Modellzeile muss zur gleichen Person gehören wie Y</a:t>
            </a:r>
            <a:endParaRPr lang="en-US" sz="1640" dirty="0"/>
          </a:p>
        </p:txBody>
      </p:sp>
      <p:sp>
        <p:nvSpPr>
          <p:cNvPr id="11" name="Shape 8"/>
          <p:cNvSpPr/>
          <p:nvPr/>
        </p:nvSpPr>
        <p:spPr>
          <a:xfrm>
            <a:off x="6492240" y="1234440"/>
            <a:ext cx="4709160" cy="3383280"/>
          </a:xfrm>
          <a:prstGeom prst="roundRect">
            <a:avLst>
              <a:gd name="adj" fmla="val 2162"/>
            </a:avLst>
          </a:prstGeom>
          <a:solidFill>
            <a:srgbClr val="FFFFFF"/>
          </a:solidFill>
          <a:ln w="10160">
            <a:solidFill>
              <a:srgbClr val="D7DEE6"/>
            </a:solidFill>
            <a:prstDash val="solid"/>
          </a:ln>
          <a:effectLst>
            <a:outerShdw sx="100000" sy="100000" kx="0" ky="0" algn="bl" rotWithShape="0" blurRad="25400" dist="12700" dir="2700000">
              <a:srgbClr val="000000">
                <a:alpha val="8000"/>
              </a:srgbClr>
            </a:outerShdw>
          </a:effectLst>
        </p:spPr>
      </p:sp>
      <p:pic>
        <p:nvPicPr>
          <p:cNvPr id="12" name="Image 0" descr="/mnt/data/lecture05_work/assets/feature_matrix.png">    </p:cNvPr>
          <p:cNvPicPr>
            <a:picLocks noChangeAspect="1"/>
          </p:cNvPicPr>
          <p:nvPr/>
        </p:nvPicPr>
        <p:blipFill>
          <a:blip r:embed="rId1"/>
          <a:stretch>
            <a:fillRect/>
          </a:stretch>
        </p:blipFill>
        <p:spPr>
          <a:xfrm>
            <a:off x="6583680" y="1653064"/>
            <a:ext cx="4526280" cy="2546033"/>
          </a:xfrm>
          <a:prstGeom prst="rect">
            <a:avLst/>
          </a:prstGeom>
        </p:spPr>
      </p:pic>
      <p:sp>
        <p:nvSpPr>
          <p:cNvPr id="13" name="Shape 9"/>
          <p:cNvSpPr/>
          <p:nvPr/>
        </p:nvSpPr>
        <p:spPr>
          <a:xfrm>
            <a:off x="6492240" y="4983480"/>
            <a:ext cx="4709160" cy="731520"/>
          </a:xfrm>
          <a:prstGeom prst="roundRect">
            <a:avLst>
              <a:gd name="adj" fmla="val 10000"/>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4" name="Text 10"/>
          <p:cNvSpPr/>
          <p:nvPr/>
        </p:nvSpPr>
        <p:spPr>
          <a:xfrm>
            <a:off x="6656832" y="5093208"/>
            <a:ext cx="4379976" cy="512064"/>
          </a:xfrm>
          <a:prstGeom prst="rect">
            <a:avLst/>
          </a:prstGeom>
          <a:noFill/>
          <a:ln/>
        </p:spPr>
        <p:txBody>
          <a:bodyPr wrap="square" lIns="254" tIns="254" rIns="254" bIns="254" rtlCol="0" anchor="ctr">
            <a:normAutofit/>
          </a:bodyPr>
          <a:lstStyle/>
          <a:p>
            <a:pPr algn="ctr" indent="0" marL="0">
              <a:buNone/>
            </a:pPr>
            <a:r>
              <a:rPr lang="en-US" sz="1350" b="1" dirty="0">
                <a:solidFill>
                  <a:srgbClr val="F26D3D"/>
                </a:solidFill>
                <a:latin typeface="Aptos" pitchFamily="34" charset="0"/>
                <a:ea typeface="Aptos" pitchFamily="34" charset="-122"/>
                <a:cs typeface="Aptos" pitchFamily="34" charset="-120"/>
              </a:rPr>
              <a:t>Die Feature-Matrix X ist die Brücke zwischen Data Handling und Modellierung.</a:t>
            </a:r>
            <a:endParaRPr lang="en-US" sz="13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Korrelationsmatrix: Prädiktoren und Y</a:t>
            </a:r>
          </a:p>
        </p:txBody>
      </p:sp>
      <p:pic>
        <p:nvPicPr>
          <p:cNvPr id="3" name="Picture 2" descr="slide27_correlation.png"/>
          <p:cNvPicPr>
            <a:picLocks noChangeAspect="1"/>
          </p:cNvPicPr>
          <p:nvPr/>
        </p:nvPicPr>
        <p:blipFill>
          <a:blip r:embed="rId2"/>
          <a:stretch>
            <a:fillRect/>
          </a:stretch>
        </p:blipFill>
        <p:spPr>
          <a:xfrm>
            <a:off x="457200" y="1005840"/>
            <a:ext cx="11277600" cy="918193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Kategoriale Variablen für Modelle vorbereiten</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Textkategorien werden zu Dummy-Variablen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28</a:t>
            </a:r>
            <a:endParaRPr lang="en-US" sz="750" dirty="0"/>
          </a:p>
        </p:txBody>
      </p:sp>
      <p:sp>
        <p:nvSpPr>
          <p:cNvPr id="10" name="Text 7"/>
          <p:cNvSpPr/>
          <p:nvPr/>
        </p:nvSpPr>
        <p:spPr>
          <a:xfrm>
            <a:off x="731520" y="1234440"/>
            <a:ext cx="5669280" cy="4389120"/>
          </a:xfrm>
          <a:prstGeom prst="rect">
            <a:avLst/>
          </a:prstGeom>
          <a:noFill/>
          <a:ln/>
        </p:spPr>
        <p:txBody>
          <a:bodyPr wrap="square" lIns="254" tIns="254" rIns="254" bIns="254" rtlCol="0" anchor="ctr">
            <a:normAutofit/>
          </a:bodyPr>
          <a:lstStyle/>
          <a:p>
            <a:pPr indent="0" marL="0">
              <a:buNone/>
            </a:pPr>
            <a:r>
              <a:rPr lang="en-US" sz="1630" dirty="0">
                <a:solidFill>
                  <a:srgbClr val="313A45"/>
                </a:solidFill>
                <a:latin typeface="Aptos" pitchFamily="34" charset="0"/>
                <a:ea typeface="Aptos" pitchFamily="34" charset="-122"/>
                <a:cs typeface="Aptos" pitchFamily="34" charset="-120"/>
              </a:rPr>
              <a:t>• Beispiel: Abteilung ist Text</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Modelle brauchen numerische Spalten</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`pd.get_dummies()` erzeugt 0/1-Variablen</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`drop_first=True` vermeidet eine redundante Kategorie</a:t>
            </a:r>
            <a:endParaRPr lang="en-US" sz="1630" dirty="0"/>
          </a:p>
          <a:p>
            <a:pPr indent="0" marL="0">
              <a:buNone/>
            </a:pPr>
            <a:r>
              <a:rPr lang="en-US" sz="1630" dirty="0">
                <a:solidFill>
                  <a:srgbClr val="313A45"/>
                </a:solidFill>
                <a:latin typeface="Aptos" pitchFamily="34" charset="0"/>
                <a:ea typeface="Aptos" pitchFamily="34" charset="-122"/>
                <a:cs typeface="Aptos" pitchFamily="34" charset="-120"/>
              </a:rPr>
              <a:t>• die Bedeutung der neuen Spalten prüfen</a:t>
            </a:r>
            <a:endParaRPr lang="en-US" sz="1630" dirty="0"/>
          </a:p>
        </p:txBody>
      </p:sp>
      <p:sp>
        <p:nvSpPr>
          <p:cNvPr id="11" name="Shape 8"/>
          <p:cNvSpPr/>
          <p:nvPr/>
        </p:nvSpPr>
        <p:spPr>
          <a:xfrm>
            <a:off x="6492240" y="1508760"/>
            <a:ext cx="4709160" cy="2011680"/>
          </a:xfrm>
          <a:prstGeom prst="rect">
            <a:avLst/>
          </a:prstGeom>
          <a:solidFill>
            <a:srgbClr val="1F2937"/>
          </a:solidFill>
          <a:ln w="12700">
            <a:solidFill>
              <a:srgbClr val="1F2937"/>
            </a:solidFill>
            <a:prstDash val="solid"/>
          </a:ln>
        </p:spPr>
      </p:sp>
      <p:sp>
        <p:nvSpPr>
          <p:cNvPr id="12" name="Text 9"/>
          <p:cNvSpPr/>
          <p:nvPr/>
        </p:nvSpPr>
        <p:spPr>
          <a:xfrm>
            <a:off x="6656832" y="1636776"/>
            <a:ext cx="4379976" cy="175564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X_cat = pd.get_dummies(</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df[['department', 'gender']],</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drop_first=True,</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dtype=int</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Notebook-Pause 9</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Y und X für ein Modell vorbereiten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29</a:t>
            </a:r>
            <a:endParaRPr lang="en-US" sz="750" dirty="0"/>
          </a:p>
        </p:txBody>
      </p:sp>
      <p:sp>
        <p:nvSpPr>
          <p:cNvPr id="10" name="Text 7"/>
          <p:cNvSpPr/>
          <p:nvPr/>
        </p:nvSpPr>
        <p:spPr>
          <a:xfrm>
            <a:off x="731520" y="1325880"/>
            <a:ext cx="5486400" cy="4206240"/>
          </a:xfrm>
          <a:prstGeom prst="rect">
            <a:avLst/>
          </a:prstGeom>
          <a:noFill/>
          <a:ln/>
        </p:spPr>
        <p:txBody>
          <a:bodyPr wrap="square" lIns="254" tIns="254" rIns="254" bIns="254" rtlCol="0" anchor="ctr">
            <a:normAutofit/>
          </a:bodyPr>
          <a:lstStyle/>
          <a:p>
            <a:pPr indent="0" marL="0">
              <a:buNone/>
            </a:pPr>
            <a:r>
              <a:rPr lang="en-US" sz="1700" dirty="0">
                <a:solidFill>
                  <a:srgbClr val="313A45"/>
                </a:solidFill>
                <a:latin typeface="Aptos" pitchFamily="34" charset="0"/>
                <a:ea typeface="Aptos" pitchFamily="34" charset="-122"/>
                <a:cs typeface="Aptos" pitchFamily="34" charset="-120"/>
              </a:rPr>
              <a:t>• Zielvariable `satisfaction` als `Y`</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numerische Prädiktoren auswählen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kategoriale Prädiktoren dummy-codieren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`X` und `Y` prüfen</a:t>
            </a:r>
            <a:endParaRPr lang="en-US" sz="1700" dirty="0"/>
          </a:p>
          <a:p>
            <a:pPr indent="0" marL="0">
              <a:buNone/>
            </a:pPr>
            <a:r>
              <a:rPr lang="en-US" sz="1700" dirty="0">
                <a:solidFill>
                  <a:srgbClr val="313A45"/>
                </a:solidFill>
                <a:latin typeface="Aptos" pitchFamily="34" charset="0"/>
                <a:ea typeface="Aptos" pitchFamily="34" charset="-122"/>
                <a:cs typeface="Aptos" pitchFamily="34" charset="-120"/>
              </a:rPr>
              <a:t>• model-ready CSV speichern</a:t>
            </a:r>
            <a:endParaRPr lang="en-US" sz="1700" dirty="0"/>
          </a:p>
        </p:txBody>
      </p:sp>
      <p:sp>
        <p:nvSpPr>
          <p:cNvPr id="11" name="Shape 8"/>
          <p:cNvSpPr/>
          <p:nvPr/>
        </p:nvSpPr>
        <p:spPr>
          <a:xfrm>
            <a:off x="6446520" y="1325880"/>
            <a:ext cx="4800600" cy="2834640"/>
          </a:xfrm>
          <a:prstGeom prst="rect">
            <a:avLst/>
          </a:prstGeom>
          <a:solidFill>
            <a:srgbClr val="1F2937"/>
          </a:solidFill>
          <a:ln w="12700">
            <a:solidFill>
              <a:srgbClr val="1F2937"/>
            </a:solidFill>
            <a:prstDash val="solid"/>
          </a:ln>
        </p:spPr>
      </p:sp>
      <p:sp>
        <p:nvSpPr>
          <p:cNvPr id="12" name="Text 9"/>
          <p:cNvSpPr/>
          <p:nvPr/>
        </p:nvSpPr>
        <p:spPr>
          <a:xfrm>
            <a:off x="6611112" y="1453896"/>
            <a:ext cx="4471416" cy="2578608"/>
          </a:xfrm>
          <a:prstGeom prst="rect">
            <a:avLst/>
          </a:prstGeom>
          <a:noFill/>
          <a:ln/>
        </p:spPr>
        <p:txBody>
          <a:bodyPr wrap="square" lIns="0" tIns="0" rIns="0" bIns="0" rtlCol="0" anchor="ctr">
            <a:normAutofit/>
          </a:bodyPr>
          <a:lstStyle/>
          <a:p>
            <a:pPr indent="0" marL="0">
              <a:buNone/>
            </a:pPr>
            <a:r>
              <a:rPr lang="en-US" sz="1180" dirty="0">
                <a:solidFill>
                  <a:srgbClr val="F8FAFC"/>
                </a:solidFill>
                <a:latin typeface="Consolas" pitchFamily="34" charset="0"/>
                <a:ea typeface="Consolas" pitchFamily="34" charset="-122"/>
                <a:cs typeface="Consolas" pitchFamily="34" charset="-120"/>
              </a:rPr>
              <a:t>y = df['satisfaction']</a:t>
            </a:r>
            <a:endParaRPr lang="en-US" sz="1180" dirty="0"/>
          </a:p>
          <a:p>
            <a:pPr indent="0" marL="0">
              <a:buNone/>
            </a:pPr>
            <a:r>
              <a:rPr lang="en-US" sz="1180" dirty="0">
                <a:solidFill>
                  <a:srgbClr val="F8FAFC"/>
                </a:solidFill>
                <a:latin typeface="Consolas" pitchFamily="34" charset="0"/>
                <a:ea typeface="Consolas" pitchFamily="34" charset="-122"/>
                <a:cs typeface="Consolas" pitchFamily="34" charset="-120"/>
              </a:rPr>
              <a:t>X_num = df[num_predictors]</a:t>
            </a:r>
            <a:endParaRPr lang="en-US" sz="1180" dirty="0"/>
          </a:p>
          <a:p>
            <a:pPr indent="0" marL="0">
              <a:buNone/>
            </a:pPr>
            <a:r>
              <a:rPr lang="en-US" sz="1180" dirty="0">
                <a:solidFill>
                  <a:srgbClr val="F8FAFC"/>
                </a:solidFill>
                <a:latin typeface="Consolas" pitchFamily="34" charset="0"/>
                <a:ea typeface="Consolas" pitchFamily="34" charset="-122"/>
                <a:cs typeface="Consolas" pitchFamily="34" charset="-120"/>
              </a:rPr>
              <a:t>X_cat = pd.get_dummies(df[cat_predictors], drop_first=True, dtype=int)</a:t>
            </a:r>
            <a:endParaRPr lang="en-US" sz="1180" dirty="0"/>
          </a:p>
          <a:p>
            <a:pPr indent="0" marL="0">
              <a:buNone/>
            </a:pPr>
            <a:r>
              <a:rPr lang="en-US" sz="1180" dirty="0">
                <a:solidFill>
                  <a:srgbClr val="F8FAFC"/>
                </a:solidFill>
                <a:latin typeface="Consolas" pitchFamily="34" charset="0"/>
                <a:ea typeface="Consolas" pitchFamily="34" charset="-122"/>
                <a:cs typeface="Consolas" pitchFamily="34" charset="-120"/>
              </a:rPr>
              <a:t>X = pd.concat([X_num, X_cat], axis=1)</a:t>
            </a:r>
            <a:endParaRPr lang="en-US" sz="1180" dirty="0"/>
          </a:p>
          <a:p>
            <a:pPr indent="0" marL="0">
              <a:buNone/>
            </a:pPr>
            <a:endParaRPr lang="en-US" sz="1180" dirty="0"/>
          </a:p>
          <a:p>
            <a:pPr indent="0" marL="0">
              <a:buNone/>
            </a:pPr>
            <a:r>
              <a:rPr lang="en-US" sz="1180" dirty="0">
                <a:solidFill>
                  <a:srgbClr val="F8FAFC"/>
                </a:solidFill>
                <a:latin typeface="Consolas" pitchFamily="34" charset="0"/>
                <a:ea typeface="Consolas" pitchFamily="34" charset="-122"/>
                <a:cs typeface="Consolas" pitchFamily="34" charset="-120"/>
              </a:rPr>
              <a:t>print(y.shape, X.shape)</a:t>
            </a:r>
            <a:endParaRPr lang="en-US" sz="11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Nicht alles gehört in ein Modell</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Data Handling ist auch Schutz vor schlechten Modellentscheidungen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30</a:t>
            </a:r>
            <a:endParaRPr lang="en-US" sz="750" dirty="0"/>
          </a:p>
        </p:txBody>
      </p:sp>
      <p:sp>
        <p:nvSpPr>
          <p:cNvPr id="10" name="Text 7"/>
          <p:cNvSpPr/>
          <p:nvPr/>
        </p:nvSpPr>
        <p:spPr>
          <a:xfrm>
            <a:off x="731520" y="1234440"/>
            <a:ext cx="5669280" cy="4480560"/>
          </a:xfrm>
          <a:prstGeom prst="rect">
            <a:avLst/>
          </a:prstGeom>
          <a:noFill/>
          <a:ln/>
        </p:spPr>
        <p:txBody>
          <a:bodyPr wrap="square" lIns="254" tIns="254" rIns="254" bIns="254" rtlCol="0" anchor="ctr">
            <a:normAutofit/>
          </a:bodyPr>
          <a:lstStyle/>
          <a:p>
            <a:pPr indent="0" marL="0">
              <a:buNone/>
            </a:pPr>
            <a:r>
              <a:rPr lang="en-US" sz="1650" dirty="0">
                <a:solidFill>
                  <a:srgbClr val="313A45"/>
                </a:solidFill>
                <a:latin typeface="Aptos" pitchFamily="34" charset="0"/>
                <a:ea typeface="Aptos" pitchFamily="34" charset="-122"/>
                <a:cs typeface="Aptos" pitchFamily="34" charset="-120"/>
              </a:rPr>
              <a:t>• IDs sind für Verwaltung, nicht für Vorhersage</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Zielvariable darf nicht versehentlich in X landen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Variablen aus der Zukunft erzeugen Data Leakage</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zu ähnliche Variablen können Ergebnisse künstlich verbessern</a:t>
            </a:r>
            <a:endParaRPr lang="en-US" sz="1650" dirty="0"/>
          </a:p>
          <a:p>
            <a:pPr indent="0" marL="0">
              <a:buNone/>
            </a:pPr>
            <a:r>
              <a:rPr lang="en-US" sz="1650" dirty="0">
                <a:solidFill>
                  <a:srgbClr val="313A45"/>
                </a:solidFill>
                <a:latin typeface="Aptos" pitchFamily="34" charset="0"/>
                <a:ea typeface="Aptos" pitchFamily="34" charset="-122"/>
                <a:cs typeface="Aptos" pitchFamily="34" charset="-120"/>
              </a:rPr>
              <a:t>• fachliche Plausibilität bleibt zentral</a:t>
            </a:r>
            <a:endParaRPr lang="en-US" sz="1650" dirty="0"/>
          </a:p>
        </p:txBody>
      </p:sp>
      <p:sp>
        <p:nvSpPr>
          <p:cNvPr id="11" name="Shape 8"/>
          <p:cNvSpPr/>
          <p:nvPr/>
        </p:nvSpPr>
        <p:spPr>
          <a:xfrm>
            <a:off x="6629400" y="1600200"/>
            <a:ext cx="4526280" cy="914400"/>
          </a:xfrm>
          <a:prstGeom prst="roundRect">
            <a:avLst>
              <a:gd name="adj" fmla="val 8000"/>
            </a:avLst>
          </a:prstGeom>
          <a:solidFill>
            <a:srgbClr val="EAF6FD"/>
          </a:solidFill>
          <a:ln w="15240">
            <a:solidFill>
              <a:srgbClr val="2D9CDB"/>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6793992" y="1709928"/>
            <a:ext cx="4197096" cy="694944"/>
          </a:xfrm>
          <a:prstGeom prst="rect">
            <a:avLst/>
          </a:prstGeom>
          <a:noFill/>
          <a:ln/>
        </p:spPr>
        <p:txBody>
          <a:bodyPr wrap="square" lIns="254" tIns="254" rIns="254" bIns="254" rtlCol="0" anchor="ctr">
            <a:normAutofit/>
          </a:bodyPr>
          <a:lstStyle/>
          <a:p>
            <a:pPr algn="ctr" indent="0" marL="0">
              <a:buNone/>
            </a:pPr>
            <a:r>
              <a:rPr lang="en-US" sz="1500" b="1" dirty="0">
                <a:solidFill>
                  <a:srgbClr val="2D9CDB"/>
                </a:solidFill>
                <a:latin typeface="Aptos" pitchFamily="34" charset="0"/>
                <a:ea typeface="Aptos" pitchFamily="34" charset="-122"/>
                <a:cs typeface="Aptos" pitchFamily="34" charset="-120"/>
              </a:rPr>
              <a:t>Interaktion: Welche Spalten würden Sie aus X ausschließen?</a:t>
            </a:r>
            <a:endParaRPr lang="en-US" sz="1500" dirty="0"/>
          </a:p>
        </p:txBody>
      </p:sp>
      <p:sp>
        <p:nvSpPr>
          <p:cNvPr id="13" name="Shape 10"/>
          <p:cNvSpPr/>
          <p:nvPr/>
        </p:nvSpPr>
        <p:spPr>
          <a:xfrm>
            <a:off x="6629400" y="3063240"/>
            <a:ext cx="4526280" cy="1234440"/>
          </a:xfrm>
          <a:prstGeom prst="rect">
            <a:avLst/>
          </a:prstGeom>
          <a:solidFill>
            <a:srgbClr val="1F2937"/>
          </a:solidFill>
          <a:ln w="12700">
            <a:solidFill>
              <a:srgbClr val="1F2937"/>
            </a:solidFill>
            <a:prstDash val="solid"/>
          </a:ln>
        </p:spPr>
      </p:sp>
      <p:sp>
        <p:nvSpPr>
          <p:cNvPr id="14" name="Text 11"/>
          <p:cNvSpPr/>
          <p:nvPr/>
        </p:nvSpPr>
        <p:spPr>
          <a:xfrm>
            <a:off x="6793992" y="3191256"/>
            <a:ext cx="4197096" cy="97840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 Nicht als Prädiktor verwenden:</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participant_id</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satisfaction  # wenn satisfaction Y ist</a:t>
            </a:r>
            <a:endParaRPr lang="en-US" sz="1350" dirty="0"/>
          </a:p>
        </p:txBody>
      </p:sp>
      <p:pic>
        <p:nvPicPr>
          <p:cNvPr id="15" name="Picture 14" descr="slide37_scatter_stress.png"/>
          <p:cNvPicPr>
            <a:picLocks noChangeAspect="1"/>
          </p:cNvPicPr>
          <p:nvPr/>
        </p:nvPicPr>
        <p:blipFill>
          <a:blip r:embed="rId3"/>
          <a:stretch>
            <a:fillRect/>
          </a:stretch>
        </p:blipFill>
        <p:spPr>
          <a:xfrm>
            <a:off x="6629400" y="4297680"/>
            <a:ext cx="4526280" cy="215512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Optionaler Mini-Modelltest</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Sobald Y und X sauber sind, ist Modellierung technisch nur der nächste Schritt</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31</a:t>
            </a:r>
            <a:endParaRPr lang="en-US" sz="750" dirty="0"/>
          </a:p>
        </p:txBody>
      </p:sp>
      <p:sp>
        <p:nvSpPr>
          <p:cNvPr id="10" name="Text 7"/>
          <p:cNvSpPr/>
          <p:nvPr/>
        </p:nvSpPr>
        <p:spPr>
          <a:xfrm>
            <a:off x="731520" y="1234440"/>
            <a:ext cx="5623560" cy="4389120"/>
          </a:xfrm>
          <a:prstGeom prst="rect">
            <a:avLst/>
          </a:prstGeom>
          <a:noFill/>
          <a:ln/>
        </p:spPr>
        <p:txBody>
          <a:bodyPr wrap="square" lIns="254" tIns="254" rIns="254" bIns="254" rtlCol="0" anchor="ctr">
            <a:normAutofit/>
          </a:bodyPr>
          <a:lstStyle/>
          <a:p>
            <a:pPr indent="0" marL="0">
              <a:buNone/>
            </a:pPr>
            <a:r>
              <a:rPr lang="en-US" sz="1660" dirty="0">
                <a:solidFill>
                  <a:srgbClr val="313A45"/>
                </a:solidFill>
                <a:latin typeface="Aptos" pitchFamily="34" charset="0"/>
                <a:ea typeface="Aptos" pitchFamily="34" charset="-122"/>
                <a:cs typeface="Aptos" pitchFamily="34" charset="-120"/>
              </a:rPr>
              <a:t>• nicht als Modellierungs-Lecture gedacht</a:t>
            </a:r>
            <a:endParaRPr lang="en-US" sz="1660" dirty="0"/>
          </a:p>
          <a:p>
            <a:pPr indent="0" marL="0">
              <a:buNone/>
            </a:pPr>
            <a:r>
              <a:rPr lang="en-US" sz="1660" dirty="0">
                <a:solidFill>
                  <a:srgbClr val="313A45"/>
                </a:solidFill>
                <a:latin typeface="Aptos" pitchFamily="34" charset="0"/>
                <a:ea typeface="Aptos" pitchFamily="34" charset="-122"/>
                <a:cs typeface="Aptos" pitchFamily="34" charset="-120"/>
              </a:rPr>
              <a:t>• zeigt nur den Übergang von Data Handling zu Regression</a:t>
            </a:r>
            <a:endParaRPr lang="en-US" sz="1660" dirty="0"/>
          </a:p>
          <a:p>
            <a:pPr indent="0" marL="0">
              <a:buNone/>
            </a:pPr>
            <a:r>
              <a:rPr lang="en-US" sz="1660" dirty="0">
                <a:solidFill>
                  <a:srgbClr val="313A45"/>
                </a:solidFill>
                <a:latin typeface="Aptos" pitchFamily="34" charset="0"/>
                <a:ea typeface="Aptos" pitchFamily="34" charset="-122"/>
                <a:cs typeface="Aptos" pitchFamily="34" charset="-120"/>
              </a:rPr>
              <a:t>• Y und X müssen vorher stimmen</a:t>
            </a:r>
            <a:endParaRPr lang="en-US" sz="1660" dirty="0"/>
          </a:p>
          <a:p>
            <a:pPr indent="0" marL="0">
              <a:buNone/>
            </a:pPr>
            <a:r>
              <a:rPr lang="en-US" sz="1660" dirty="0">
                <a:solidFill>
                  <a:srgbClr val="313A45"/>
                </a:solidFill>
                <a:latin typeface="Aptos" pitchFamily="34" charset="0"/>
                <a:ea typeface="Aptos" pitchFamily="34" charset="-122"/>
                <a:cs typeface="Aptos" pitchFamily="34" charset="-120"/>
              </a:rPr>
              <a:t>• Interpretation bleibt vorsichtig</a:t>
            </a:r>
            <a:endParaRPr lang="en-US" sz="1660" dirty="0"/>
          </a:p>
          <a:p>
            <a:pPr indent="0" marL="0">
              <a:buNone/>
            </a:pPr>
            <a:r>
              <a:rPr lang="en-US" sz="1660" dirty="0">
                <a:solidFill>
                  <a:srgbClr val="313A45"/>
                </a:solidFill>
                <a:latin typeface="Aptos" pitchFamily="34" charset="0"/>
                <a:ea typeface="Aptos" pitchFamily="34" charset="-122"/>
                <a:cs typeface="Aptos" pitchFamily="34" charset="-120"/>
              </a:rPr>
              <a:t>• Fokus bleibt auf Datenqualität</a:t>
            </a:r>
            <a:endParaRPr lang="en-US" sz="1660" dirty="0"/>
          </a:p>
        </p:txBody>
      </p:sp>
      <p:sp>
        <p:nvSpPr>
          <p:cNvPr id="11" name="Shape 8"/>
          <p:cNvSpPr/>
          <p:nvPr/>
        </p:nvSpPr>
        <p:spPr>
          <a:xfrm>
            <a:off x="6446520" y="1508760"/>
            <a:ext cx="4800600" cy="2377440"/>
          </a:xfrm>
          <a:prstGeom prst="rect">
            <a:avLst/>
          </a:prstGeom>
          <a:solidFill>
            <a:srgbClr val="1F2937"/>
          </a:solidFill>
          <a:ln w="12700">
            <a:solidFill>
              <a:srgbClr val="1F2937"/>
            </a:solidFill>
            <a:prstDash val="solid"/>
          </a:ln>
        </p:spPr>
      </p:sp>
      <p:sp>
        <p:nvSpPr>
          <p:cNvPr id="12" name="Text 9"/>
          <p:cNvSpPr/>
          <p:nvPr/>
        </p:nvSpPr>
        <p:spPr>
          <a:xfrm>
            <a:off x="6611112" y="1636776"/>
            <a:ext cx="4471416" cy="2121408"/>
          </a:xfrm>
          <a:prstGeom prst="rect">
            <a:avLst/>
          </a:prstGeom>
          <a:noFill/>
          <a:ln/>
        </p:spPr>
        <p:txBody>
          <a:bodyPr wrap="square" lIns="0" tIns="0" rIns="0" bIns="0" rtlCol="0" anchor="ctr">
            <a:normAutofit/>
          </a:bodyPr>
          <a:lstStyle/>
          <a:p>
            <a:pPr indent="0" marL="0">
              <a:buNone/>
            </a:pPr>
            <a:r>
              <a:rPr lang="en-US" sz="1250" dirty="0">
                <a:solidFill>
                  <a:srgbClr val="F8FAFC"/>
                </a:solidFill>
                <a:latin typeface="Consolas" pitchFamily="34" charset="0"/>
                <a:ea typeface="Consolas" pitchFamily="34" charset="-122"/>
                <a:cs typeface="Consolas" pitchFamily="34" charset="-120"/>
              </a:rPr>
              <a:t>X_design = np.column_stack([</a:t>
            </a:r>
            <a:endParaRPr lang="en-US" sz="1250" dirty="0"/>
          </a:p>
          <a:p>
            <a:pPr indent="0" marL="0">
              <a:buNone/>
            </a:pPr>
            <a:r>
              <a:rPr lang="en-US" sz="1250" dirty="0">
                <a:solidFill>
                  <a:srgbClr val="F8FAFC"/>
                </a:solidFill>
                <a:latin typeface="Consolas" pitchFamily="34" charset="0"/>
                <a:ea typeface="Consolas" pitchFamily="34" charset="-122"/>
                <a:cs typeface="Consolas" pitchFamily="34" charset="-120"/>
              </a:rPr>
              <a:t>    np.ones(len(X)),</a:t>
            </a:r>
            <a:endParaRPr lang="en-US" sz="1250" dirty="0"/>
          </a:p>
          <a:p>
            <a:pPr indent="0" marL="0">
              <a:buNone/>
            </a:pPr>
            <a:r>
              <a:rPr lang="en-US" sz="1250" dirty="0">
                <a:solidFill>
                  <a:srgbClr val="F8FAFC"/>
                </a:solidFill>
                <a:latin typeface="Consolas" pitchFamily="34" charset="0"/>
                <a:ea typeface="Consolas" pitchFamily="34" charset="-122"/>
                <a:cs typeface="Consolas" pitchFamily="34" charset="-120"/>
              </a:rPr>
              <a:t>    X.astype(float).to_numpy()</a:t>
            </a:r>
            <a:endParaRPr lang="en-US" sz="1250" dirty="0"/>
          </a:p>
          <a:p>
            <a:pPr indent="0" marL="0">
              <a:buNone/>
            </a:pPr>
            <a:r>
              <a:rPr lang="en-US" sz="1250" dirty="0">
                <a:solidFill>
                  <a:srgbClr val="F8FAFC"/>
                </a:solidFill>
                <a:latin typeface="Consolas" pitchFamily="34" charset="0"/>
                <a:ea typeface="Consolas" pitchFamily="34" charset="-122"/>
                <a:cs typeface="Consolas" pitchFamily="34" charset="-120"/>
              </a:rPr>
              <a:t>])</a:t>
            </a:r>
            <a:endParaRPr lang="en-US" sz="1250" dirty="0"/>
          </a:p>
          <a:p>
            <a:pPr indent="0" marL="0">
              <a:buNone/>
            </a:pPr>
            <a:r>
              <a:rPr lang="en-US" sz="1250" dirty="0">
                <a:solidFill>
                  <a:srgbClr val="F8FAFC"/>
                </a:solidFill>
                <a:latin typeface="Consolas" pitchFamily="34" charset="0"/>
                <a:ea typeface="Consolas" pitchFamily="34" charset="-122"/>
                <a:cs typeface="Consolas" pitchFamily="34" charset="-120"/>
              </a:rPr>
              <a:t>coef, *_ = np.linalg.lstsq(X_design, y, rcond=None)</a:t>
            </a:r>
            <a:endParaRPr lang="en-US" sz="1250" dirty="0"/>
          </a:p>
        </p:txBody>
      </p:sp>
      <p:sp>
        <p:nvSpPr>
          <p:cNvPr id="13" name="Shape 10"/>
          <p:cNvSpPr/>
          <p:nvPr/>
        </p:nvSpPr>
        <p:spPr>
          <a:xfrm>
            <a:off x="6446520" y="4251960"/>
            <a:ext cx="4800600" cy="731520"/>
          </a:xfrm>
          <a:prstGeom prst="roundRect">
            <a:avLst>
              <a:gd name="adj" fmla="val 10000"/>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6611112" y="4361688"/>
            <a:ext cx="4471416" cy="512064"/>
          </a:xfrm>
          <a:prstGeom prst="rect">
            <a:avLst/>
          </a:prstGeom>
          <a:noFill/>
          <a:ln/>
        </p:spPr>
        <p:txBody>
          <a:bodyPr wrap="square" lIns="254" tIns="254" rIns="254" bIns="254" rtlCol="0" anchor="ctr">
            <a:normAutofit/>
          </a:bodyPr>
          <a:lstStyle/>
          <a:p>
            <a:pPr algn="ctr" indent="0" marL="0">
              <a:buNone/>
            </a:pPr>
            <a:r>
              <a:rPr lang="en-US" sz="1500" b="1" dirty="0">
                <a:solidFill>
                  <a:srgbClr val="F26D3D"/>
                </a:solidFill>
                <a:latin typeface="Aptos" pitchFamily="34" charset="0"/>
                <a:ea typeface="Aptos" pitchFamily="34" charset="-122"/>
                <a:cs typeface="Aptos" pitchFamily="34" charset="-120"/>
              </a:rPr>
              <a:t>Gutes Modellieren beginnt vor dem Modell.</a:t>
            </a:r>
            <a:endParaRPr lang="en-US" sz="1500" dirty="0"/>
          </a:p>
        </p:txBody>
      </p:sp>
      <p:pic>
        <p:nvPicPr>
          <p:cNvPr id="15" name="Picture 14" descr="slide38_scatter_overload.png"/>
          <p:cNvPicPr>
            <a:picLocks noChangeAspect="1"/>
          </p:cNvPicPr>
          <p:nvPr/>
        </p:nvPicPr>
        <p:blipFill>
          <a:blip r:embed="rId3"/>
          <a:stretch>
            <a:fillRect/>
          </a:stretch>
        </p:blipFill>
        <p:spPr>
          <a:xfrm>
            <a:off x="6446520" y="4983480"/>
            <a:ext cx="4800600" cy="152862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Checkliste: Ist ein Datensatz analysebereit?</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Diese Fragen sollten Sie vor jeder Analyse stellen</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32</a:t>
            </a:r>
            <a:endParaRPr lang="en-US" sz="750" dirty="0"/>
          </a:p>
        </p:txBody>
      </p:sp>
      <p:sp>
        <p:nvSpPr>
          <p:cNvPr id="10" name="Text 7"/>
          <p:cNvSpPr/>
          <p:nvPr/>
        </p:nvSpPr>
        <p:spPr>
          <a:xfrm>
            <a:off x="731520" y="1051560"/>
            <a:ext cx="6035040" cy="5120640"/>
          </a:xfrm>
          <a:prstGeom prst="rect">
            <a:avLst/>
          </a:prstGeom>
          <a:noFill/>
          <a:ln/>
        </p:spPr>
        <p:txBody>
          <a:bodyPr wrap="square" lIns="254" tIns="254" rIns="254" bIns="254" rtlCol="0" anchor="ctr">
            <a:normAutofit/>
          </a:bodyPr>
          <a:lstStyle/>
          <a:p>
            <a:pPr indent="0" marL="0">
              <a:buNone/>
            </a:pPr>
            <a:r>
              <a:rPr lang="en-US" sz="1550" dirty="0">
                <a:solidFill>
                  <a:srgbClr val="313A45"/>
                </a:solidFill>
                <a:latin typeface="Aptos" pitchFamily="34" charset="0"/>
                <a:ea typeface="Aptos" pitchFamily="34" charset="-122"/>
                <a:cs typeface="Aptos" pitchFamily="34" charset="-120"/>
              </a:rPr>
              <a:t>• Sind Fälle und Variablen klar?</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Datentypen plausibel?</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Kategorien bereinigt?</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Missing Values sichtbar und behandelt?</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ungültige Werte geprüft?</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neue Features nachvollziehbar?</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Y und X sauber getrennt?</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Sind IDs und Leakage-Variablen ausgeschlossen?</a:t>
            </a:r>
            <a:endParaRPr lang="en-US" sz="1550" dirty="0"/>
          </a:p>
        </p:txBody>
      </p:sp>
      <p:sp>
        <p:nvSpPr>
          <p:cNvPr id="11" name="Shape 8"/>
          <p:cNvSpPr/>
          <p:nvPr/>
        </p:nvSpPr>
        <p:spPr>
          <a:xfrm>
            <a:off x="7086600" y="2011680"/>
            <a:ext cx="3977640" cy="1051560"/>
          </a:xfrm>
          <a:prstGeom prst="roundRect">
            <a:avLst>
              <a:gd name="adj" fmla="val 6957"/>
            </a:avLst>
          </a:prstGeom>
          <a:solidFill>
            <a:srgbClr val="EAF5EA"/>
          </a:solidFill>
          <a:ln w="15240">
            <a:solidFill>
              <a:srgbClr val="2E7D32"/>
            </a:solidFill>
            <a:prstDash val="solid"/>
          </a:ln>
          <a:effectLst>
            <a:outerShdw sx="100000" sy="100000" kx="0" ky="0" algn="bl" rotWithShape="0" blurRad="25400" dist="12700" dir="2700000">
              <a:srgbClr val="000000">
                <a:alpha val="12000"/>
              </a:srgbClr>
            </a:outerShdw>
          </a:effectLst>
        </p:spPr>
      </p:sp>
      <p:sp>
        <p:nvSpPr>
          <p:cNvPr id="12" name="Text 9"/>
          <p:cNvSpPr/>
          <p:nvPr/>
        </p:nvSpPr>
        <p:spPr>
          <a:xfrm>
            <a:off x="7251192" y="2121408"/>
            <a:ext cx="3648456" cy="832104"/>
          </a:xfrm>
          <a:prstGeom prst="rect">
            <a:avLst/>
          </a:prstGeom>
          <a:noFill/>
          <a:ln/>
        </p:spPr>
        <p:txBody>
          <a:bodyPr wrap="square" lIns="254" tIns="254" rIns="254" bIns="254" rtlCol="0" anchor="ctr">
            <a:normAutofit/>
          </a:bodyPr>
          <a:lstStyle/>
          <a:p>
            <a:pPr algn="ctr" indent="0" marL="0">
              <a:buNone/>
            </a:pPr>
            <a:r>
              <a:rPr lang="en-US" sz="1500" b="1" dirty="0">
                <a:solidFill>
                  <a:srgbClr val="2E7D32"/>
                </a:solidFill>
                <a:latin typeface="Aptos" pitchFamily="34" charset="0"/>
                <a:ea typeface="Aptos" pitchFamily="34" charset="-122"/>
                <a:cs typeface="Aptos" pitchFamily="34" charset="-120"/>
              </a:rPr>
              <a:t>Ein sauberer Workflow ist wichtiger als ein einzelner perfekter Befehl.</a:t>
            </a:r>
            <a:endParaRPr lang="en-US" sz="1500" dirty="0"/>
          </a:p>
        </p:txBody>
      </p:sp>
      <p:pic>
        <p:nvPicPr>
          <p:cNvPr id="13" name="Picture 12" descr="slide39_scatter_panel.png"/>
          <p:cNvPicPr>
            <a:picLocks noChangeAspect="1"/>
          </p:cNvPicPr>
          <p:nvPr/>
        </p:nvPicPr>
        <p:blipFill>
          <a:blip r:embed="rId3"/>
          <a:stretch>
            <a:fillRect/>
          </a:stretch>
        </p:blipFill>
        <p:spPr>
          <a:xfrm>
            <a:off x="7498079" y="3200400"/>
            <a:ext cx="3749039" cy="355678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600" cy="640080"/>
          </a:xfrm>
          <a:prstGeom prst="rect">
            <a:avLst/>
          </a:prstGeom>
          <a:noFill/>
        </p:spPr>
        <p:txBody>
          <a:bodyPr wrap="none">
            <a:spAutoFit/>
          </a:bodyPr>
          <a:lstStyle/>
          <a:p>
            <a:pPr algn="l">
              <a:defRPr sz="2400" b="1">
                <a:solidFill>
                  <a:srgbClr val="2C3E50"/>
                </a:solidFill>
              </a:defRPr>
            </a:pPr>
            <a:r>
              <a:t>Gesamtvergleich: Rohdaten → Model-ready</a:t>
            </a:r>
          </a:p>
        </p:txBody>
      </p:sp>
      <p:pic>
        <p:nvPicPr>
          <p:cNvPr id="3" name="Picture 2" descr="slide32_dashboard.png"/>
          <p:cNvPicPr>
            <a:picLocks noChangeAspect="1"/>
          </p:cNvPicPr>
          <p:nvPr/>
        </p:nvPicPr>
        <p:blipFill>
          <a:blip r:embed="rId2"/>
          <a:stretch>
            <a:fillRect/>
          </a:stretch>
        </p:blipFill>
        <p:spPr>
          <a:xfrm>
            <a:off x="457200" y="1005840"/>
            <a:ext cx="11277600" cy="382106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w="12700">
            <a:solidFill>
              <a:srgbClr val="F7F9FB"/>
            </a:solidFill>
            <a:prstDash val="solid"/>
          </a:ln>
        </p:spPr>
      </p:sp>
      <p:sp>
        <p:nvSpPr>
          <p:cNvPr id="3" name="Text 1"/>
          <p:cNvSpPr/>
          <p:nvPr/>
        </p:nvSpPr>
        <p:spPr>
          <a:xfrm>
            <a:off x="502920" y="411480"/>
            <a:ext cx="11155680" cy="411480"/>
          </a:xfrm>
          <a:prstGeom prst="rect">
            <a:avLst/>
          </a:prstGeom>
          <a:noFill/>
          <a:ln/>
        </p:spPr>
        <p:txBody>
          <a:bodyPr wrap="square" lIns="0" tIns="0" rIns="0" bIns="0" rtlCol="0" anchor="ctr"/>
          <a:lstStyle/>
          <a:p>
            <a:pPr indent="0" marL="0">
              <a:buNone/>
            </a:pPr>
            <a:r>
              <a:rPr lang="en-US" sz="2600" b="1" dirty="0">
                <a:solidFill>
                  <a:srgbClr val="313A45"/>
                </a:solidFill>
                <a:latin typeface="Aptos Display" pitchFamily="34" charset="0"/>
                <a:ea typeface="Aptos Display" pitchFamily="34" charset="-122"/>
                <a:cs typeface="Aptos Display" pitchFamily="34" charset="-120"/>
              </a:rPr>
              <a:t>Hausaufgabe bis zur nächsten Vorlesung</a:t>
            </a:r>
            <a:endParaRPr lang="en-US" sz="2600" dirty="0"/>
          </a:p>
        </p:txBody>
      </p:sp>
      <p:sp>
        <p:nvSpPr>
          <p:cNvPr id="4" name="Text 2"/>
          <p:cNvSpPr/>
          <p:nvPr/>
        </p:nvSpPr>
        <p:spPr>
          <a:xfrm>
            <a:off x="530352" y="868680"/>
            <a:ext cx="10789920" cy="256032"/>
          </a:xfrm>
          <a:prstGeom prst="rect">
            <a:avLst/>
          </a:prstGeom>
          <a:noFill/>
          <a:ln/>
        </p:spPr>
        <p:txBody>
          <a:bodyPr wrap="square" lIns="0" tIns="0" rIns="0" bIns="0" rtlCol="0" anchor="ctr"/>
          <a:lstStyle/>
          <a:p>
            <a:pPr indent="0" marL="0">
              <a:buNone/>
            </a:pPr>
            <a:r>
              <a:rPr lang="en-US" sz="1250" dirty="0">
                <a:solidFill>
                  <a:srgbClr val="5F6B7A"/>
                </a:solidFill>
                <a:latin typeface="Aptos" pitchFamily="34" charset="0"/>
                <a:ea typeface="Aptos" pitchFamily="34" charset="-122"/>
                <a:cs typeface="Aptos" pitchFamily="34" charset="-120"/>
              </a:rPr>
              <a:t>Arbeiten Sie den Workflow einmal eigenständig durch</a:t>
            </a:r>
            <a:endParaRPr lang="en-US" sz="1250" dirty="0"/>
          </a:p>
        </p:txBody>
      </p:sp>
      <p:sp>
        <p:nvSpPr>
          <p:cNvPr id="5" name="Shape 3"/>
          <p:cNvSpPr/>
          <p:nvPr/>
        </p:nvSpPr>
        <p:spPr>
          <a:xfrm>
            <a:off x="320040" y="6473952"/>
            <a:ext cx="11612880" cy="0"/>
          </a:xfrm>
          <a:prstGeom prst="line">
            <a:avLst/>
          </a:prstGeom>
          <a:noFill/>
          <a:ln w="8890">
            <a:solidFill>
              <a:srgbClr val="CAD2DB"/>
            </a:solidFill>
            <a:prstDash val="solid"/>
          </a:ln>
        </p:spPr>
      </p:sp>
      <p:sp>
        <p:nvSpPr>
          <p:cNvPr id="6" name="Text 4"/>
          <p:cNvSpPr/>
          <p:nvPr/>
        </p:nvSpPr>
        <p:spPr>
          <a:xfrm>
            <a:off x="320040" y="6565392"/>
            <a:ext cx="4114800" cy="164592"/>
          </a:xfrm>
          <a:prstGeom prst="rect">
            <a:avLst/>
          </a:prstGeom>
          <a:noFill/>
          <a:ln/>
        </p:spPr>
        <p:txBody>
          <a:bodyPr wrap="square" lIns="0" tIns="0" rIns="0" bIns="0" rtlCol="0" anchor="ctr"/>
          <a:lstStyle/>
          <a:p>
            <a:pPr indent="0" marL="0">
              <a:buNone/>
            </a:pPr>
            <a:r>
              <a:rPr lang="en-US" sz="750" dirty="0">
                <a:solidFill>
                  <a:srgbClr val="313A45"/>
                </a:solidFill>
                <a:latin typeface="Aptos" pitchFamily="34" charset="0"/>
                <a:ea typeface="Aptos" pitchFamily="34" charset="-122"/>
                <a:cs typeface="Aptos" pitchFamily="34" charset="-120"/>
              </a:rPr>
              <a:t>DATA SCIENCE | HS FRESENIUS</a:t>
            </a:r>
            <a:endParaRPr lang="en-US" sz="750" dirty="0"/>
          </a:p>
        </p:txBody>
      </p:sp>
      <p:sp>
        <p:nvSpPr>
          <p:cNvPr id="7" name="Text 5"/>
          <p:cNvSpPr/>
          <p:nvPr/>
        </p:nvSpPr>
        <p:spPr>
          <a:xfrm>
            <a:off x="9921240" y="6565392"/>
            <a:ext cx="1371600" cy="164592"/>
          </a:xfrm>
          <a:prstGeom prst="rect">
            <a:avLst/>
          </a:prstGeom>
          <a:noFill/>
          <a:ln/>
        </p:spPr>
        <p:txBody>
          <a:bodyPr wrap="square" lIns="0" tIns="0" rIns="0" bIns="0" rtlCol="0" anchor="ctr"/>
          <a:lstStyle/>
          <a:p>
            <a:pPr algn="r" indent="0" marL="0">
              <a:buNone/>
            </a:pPr>
            <a:r>
              <a:rPr lang="en-US" sz="750" dirty="0">
                <a:solidFill>
                  <a:srgbClr val="5F6B7A"/>
                </a:solidFill>
                <a:latin typeface="Aptos" pitchFamily="34" charset="0"/>
                <a:ea typeface="Aptos" pitchFamily="34" charset="-122"/>
                <a:cs typeface="Aptos" pitchFamily="34" charset="-120"/>
              </a:rPr>
              <a:t>Vorlesung 5</a:t>
            </a:r>
            <a:endParaRPr lang="en-US" sz="750" dirty="0"/>
          </a:p>
        </p:txBody>
      </p:sp>
      <p:sp>
        <p:nvSpPr>
          <p:cNvPr id="8" name="Text 6"/>
          <p:cNvSpPr/>
          <p:nvPr/>
        </p:nvSpPr>
        <p:spPr>
          <a:xfrm>
            <a:off x="11475720" y="6565392"/>
            <a:ext cx="320040" cy="164592"/>
          </a:xfrm>
          <a:prstGeom prst="rect">
            <a:avLst/>
          </a:prstGeom>
          <a:noFill/>
          <a:ln/>
        </p:spPr>
        <p:txBody>
          <a:bodyPr wrap="square" lIns="0" tIns="0" rIns="0" bIns="0" rtlCol="0" anchor="ctr"/>
          <a:lstStyle/>
          <a:p>
            <a:pPr algn="r" indent="0" marL="0">
              <a:buNone/>
            </a:pPr>
            <a:r>
              <a:rPr lang="en-US" sz="750" dirty="0">
                <a:solidFill>
                  <a:srgbClr val="313A45"/>
                </a:solidFill>
                <a:latin typeface="Aptos" pitchFamily="34" charset="0"/>
                <a:ea typeface="Aptos" pitchFamily="34" charset="-122"/>
                <a:cs typeface="Aptos" pitchFamily="34" charset="-120"/>
              </a:rPr>
              <a:t>33</a:t>
            </a:r>
            <a:endParaRPr lang="en-US" sz="750" dirty="0"/>
          </a:p>
        </p:txBody>
      </p:sp>
      <p:sp>
        <p:nvSpPr>
          <p:cNvPr id="10" name="Text 7"/>
          <p:cNvSpPr/>
          <p:nvPr/>
        </p:nvSpPr>
        <p:spPr>
          <a:xfrm>
            <a:off x="731520" y="1051560"/>
            <a:ext cx="6126480" cy="5029200"/>
          </a:xfrm>
          <a:prstGeom prst="rect">
            <a:avLst/>
          </a:prstGeom>
          <a:noFill/>
          <a:ln/>
        </p:spPr>
        <p:txBody>
          <a:bodyPr wrap="square" lIns="254" tIns="254" rIns="254" bIns="254" rtlCol="0" anchor="ctr">
            <a:normAutofit/>
          </a:bodyPr>
          <a:lstStyle/>
          <a:p>
            <a:pPr indent="0" marL="0">
              <a:buNone/>
            </a:pPr>
            <a:r>
              <a:rPr lang="en-US" sz="1550" dirty="0">
                <a:solidFill>
                  <a:srgbClr val="313A45"/>
                </a:solidFill>
                <a:latin typeface="Aptos" pitchFamily="34" charset="0"/>
                <a:ea typeface="Aptos" pitchFamily="34" charset="-122"/>
                <a:cs typeface="Aptos" pitchFamily="34" charset="-120"/>
              </a:rPr>
              <a:t>• Bearbeiten Sie `lecture_05_home_exercises.ipynb`</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laden Sie den Rohdatensatz selbstständig ein</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führen Sie einen Data Audit durch</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bereinigen Sie Kategorien und ungültige Werte</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erzeugen Sie mindestens drei Features</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definieren Sie eine Zielvariable Y und eine Feature-Matrix X</a:t>
            </a:r>
            <a:endParaRPr lang="en-US" sz="1550" dirty="0"/>
          </a:p>
          <a:p>
            <a:pPr indent="0" marL="0">
              <a:buNone/>
            </a:pPr>
            <a:r>
              <a:rPr lang="en-US" sz="1550" dirty="0">
                <a:solidFill>
                  <a:srgbClr val="313A45"/>
                </a:solidFill>
                <a:latin typeface="Aptos" pitchFamily="34" charset="0"/>
                <a:ea typeface="Aptos" pitchFamily="34" charset="-122"/>
                <a:cs typeface="Aptos" pitchFamily="34" charset="-120"/>
              </a:rPr>
              <a:t>• notieren Sie drei Entscheidungen, die Sie begründen mussten</a:t>
            </a:r>
            <a:endParaRPr lang="en-US" sz="1550" dirty="0"/>
          </a:p>
        </p:txBody>
      </p:sp>
      <p:sp>
        <p:nvSpPr>
          <p:cNvPr id="11" name="Shape 8"/>
          <p:cNvSpPr/>
          <p:nvPr/>
        </p:nvSpPr>
        <p:spPr>
          <a:xfrm>
            <a:off x="7086600" y="1828800"/>
            <a:ext cx="3977640" cy="1417320"/>
          </a:xfrm>
          <a:prstGeom prst="rect">
            <a:avLst/>
          </a:prstGeom>
          <a:solidFill>
            <a:srgbClr val="1F2937"/>
          </a:solidFill>
          <a:ln w="12700">
            <a:solidFill>
              <a:srgbClr val="1F2937"/>
            </a:solidFill>
            <a:prstDash val="solid"/>
          </a:ln>
        </p:spPr>
      </p:sp>
      <p:sp>
        <p:nvSpPr>
          <p:cNvPr id="12" name="Text 9"/>
          <p:cNvSpPr/>
          <p:nvPr/>
        </p:nvSpPr>
        <p:spPr>
          <a:xfrm>
            <a:off x="7251192" y="1956816"/>
            <a:ext cx="3648456" cy="1161288"/>
          </a:xfrm>
          <a:prstGeom prst="rect">
            <a:avLst/>
          </a:prstGeom>
          <a:noFill/>
          <a:ln/>
        </p:spPr>
        <p:txBody>
          <a:bodyPr wrap="square" lIns="0" tIns="0" rIns="0" bIns="0" rtlCol="0" anchor="ctr">
            <a:normAutofit/>
          </a:bodyPr>
          <a:lstStyle/>
          <a:p>
            <a:pPr indent="0" marL="0">
              <a:buNone/>
            </a:pPr>
            <a:r>
              <a:rPr lang="en-US" sz="1350" dirty="0">
                <a:solidFill>
                  <a:srgbClr val="F8FAFC"/>
                </a:solidFill>
                <a:latin typeface="Consolas" pitchFamily="34" charset="0"/>
                <a:ea typeface="Consolas" pitchFamily="34" charset="-122"/>
                <a:cs typeface="Consolas" pitchFamily="34" charset="-120"/>
              </a:rPr>
              <a:t>Abgabe / Vorbereitung:</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bereinigtes Notebook</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kurze Reflexion in Markdown</a:t>
            </a:r>
            <a:endParaRPr lang="en-US" sz="1350" dirty="0"/>
          </a:p>
          <a:p>
            <a:pPr indent="0" marL="0">
              <a:buNone/>
            </a:pPr>
            <a:r>
              <a:rPr lang="en-US" sz="1350" dirty="0">
                <a:solidFill>
                  <a:srgbClr val="F8FAFC"/>
                </a:solidFill>
                <a:latin typeface="Consolas" pitchFamily="34" charset="0"/>
                <a:ea typeface="Consolas" pitchFamily="34" charset="-122"/>
                <a:cs typeface="Consolas" pitchFamily="34" charset="-120"/>
              </a:rPr>
              <a:t>- eine Frage für die nächste Sitzung</a:t>
            </a:r>
            <a:endParaRPr lang="en-US" sz="1350" dirty="0"/>
          </a:p>
        </p:txBody>
      </p:sp>
      <p:sp>
        <p:nvSpPr>
          <p:cNvPr id="13" name="Shape 10"/>
          <p:cNvSpPr/>
          <p:nvPr/>
        </p:nvSpPr>
        <p:spPr>
          <a:xfrm>
            <a:off x="7086600" y="3886200"/>
            <a:ext cx="3977640" cy="868680"/>
          </a:xfrm>
          <a:prstGeom prst="roundRect">
            <a:avLst>
              <a:gd name="adj" fmla="val 8421"/>
            </a:avLst>
          </a:prstGeom>
          <a:solidFill>
            <a:srgbClr val="FFF0E9"/>
          </a:solidFill>
          <a:ln w="15240">
            <a:solidFill>
              <a:srgbClr val="F26D3D"/>
            </a:solidFill>
            <a:prstDash val="solid"/>
          </a:ln>
          <a:effectLst>
            <a:outerShdw sx="100000" sy="100000" kx="0" ky="0" algn="bl" rotWithShape="0" blurRad="25400" dist="12700" dir="2700000">
              <a:srgbClr val="000000">
                <a:alpha val="12000"/>
              </a:srgbClr>
            </a:outerShdw>
          </a:effectLst>
        </p:spPr>
      </p:sp>
      <p:sp>
        <p:nvSpPr>
          <p:cNvPr id="14" name="Text 11"/>
          <p:cNvSpPr/>
          <p:nvPr/>
        </p:nvSpPr>
        <p:spPr>
          <a:xfrm>
            <a:off x="7251192" y="3995928"/>
            <a:ext cx="3648456" cy="649224"/>
          </a:xfrm>
          <a:prstGeom prst="rect">
            <a:avLst/>
          </a:prstGeom>
          <a:noFill/>
          <a:ln/>
        </p:spPr>
        <p:txBody>
          <a:bodyPr wrap="square" lIns="254" tIns="254" rIns="254" bIns="254" rtlCol="0" anchor="ctr">
            <a:normAutofit/>
          </a:bodyPr>
          <a:lstStyle/>
          <a:p>
            <a:pPr algn="ctr" indent="0" marL="0">
              <a:buNone/>
            </a:pPr>
            <a:r>
              <a:rPr lang="en-US" sz="1350" b="1" dirty="0">
                <a:solidFill>
                  <a:srgbClr val="F26D3D"/>
                </a:solidFill>
                <a:latin typeface="Aptos" pitchFamily="34" charset="0"/>
                <a:ea typeface="Aptos" pitchFamily="34" charset="-122"/>
                <a:cs typeface="Aptos" pitchFamily="34" charset="-120"/>
              </a:rPr>
              <a:t>Nächstes Mal: Wir nutzen diese Logik als Grundlage für weitere Analysen.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HS Fresenius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 Data Handling für Analyse und Modellierung</dc:title>
  <dc:subject>Lecture 5 - Data Handling für Analyse und Modellierung</dc:subject>
  <dc:creator>HS Fresenius Data Science</dc:creator>
  <cp:lastModifiedBy>HS Fresenius Data Science</cp:lastModifiedBy>
  <cp:revision>1</cp:revision>
  <dcterms:created xsi:type="dcterms:W3CDTF">2026-04-20T18:57:39Z</dcterms:created>
  <dcterms:modified xsi:type="dcterms:W3CDTF">2026-04-20T18:57:39Z</dcterms:modified>
</cp:coreProperties>
</file>